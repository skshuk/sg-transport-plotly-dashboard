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T Interphases Bold" charset="1" panose="02000803060000020004"/>
      <p:regular r:id="rId17"/>
    </p:embeddedFont>
    <p:embeddedFont>
      <p:font typeface="TT Interphases" charset="1" panose="0200050302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https://data.gov.sg/datasets?query=fare&amp;page=1&amp;resultId=d_2ca29f673b89e0cfddbb7c74516fa4d3" TargetMode="External" Type="http://schemas.openxmlformats.org/officeDocument/2006/relationships/hyperlink"/><Relationship Id="rId5" Target="https://data.gov.sg/datasets?query=Utilisation+Average+Trip+Distance&amp;page=1&amp;resultId=d_1e8c9a3f599bca92c76bdb7d8a52a79a"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392042" y="1051112"/>
            <a:ext cx="7571232" cy="8229600"/>
          </a:xfrm>
          <a:custGeom>
            <a:avLst/>
            <a:gdLst/>
            <a:ahLst/>
            <a:cxnLst/>
            <a:rect r="r" b="b" t="t" l="l"/>
            <a:pathLst>
              <a:path h="8229600" w="7571232">
                <a:moveTo>
                  <a:pt x="0" y="0"/>
                </a:moveTo>
                <a:lnTo>
                  <a:pt x="7571232" y="0"/>
                </a:lnTo>
                <a:lnTo>
                  <a:pt x="7571232"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47982" y="847982"/>
            <a:ext cx="361435" cy="361435"/>
          </a:xfrm>
          <a:custGeom>
            <a:avLst/>
            <a:gdLst/>
            <a:ahLst/>
            <a:cxnLst/>
            <a:rect r="r" b="b" t="t" l="l"/>
            <a:pathLst>
              <a:path h="361435" w="361435">
                <a:moveTo>
                  <a:pt x="0" y="0"/>
                </a:moveTo>
                <a:lnTo>
                  <a:pt x="361436" y="0"/>
                </a:lnTo>
                <a:lnTo>
                  <a:pt x="361436" y="361436"/>
                </a:lnTo>
                <a:lnTo>
                  <a:pt x="0" y="3614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08743" y="2032413"/>
            <a:ext cx="9583300" cy="4222148"/>
          </a:xfrm>
          <a:prstGeom prst="rect">
            <a:avLst/>
          </a:prstGeom>
        </p:spPr>
        <p:txBody>
          <a:bodyPr anchor="t" rtlCol="false" tIns="0" lIns="0" bIns="0" rIns="0">
            <a:spAutoFit/>
          </a:bodyPr>
          <a:lstStyle/>
          <a:p>
            <a:pPr algn="l">
              <a:lnSpc>
                <a:spcPts val="10730"/>
              </a:lnSpc>
            </a:pPr>
            <a:r>
              <a:rPr lang="en-US" sz="12334" spc="-604" b="true">
                <a:solidFill>
                  <a:srgbClr val="000000"/>
                </a:solidFill>
                <a:latin typeface="TT Interphases Bold"/>
                <a:ea typeface="TT Interphases Bold"/>
                <a:cs typeface="TT Interphases Bold"/>
                <a:sym typeface="TT Interphases Bold"/>
              </a:rPr>
              <a:t>DATA VISUALTION CA2: PART B</a:t>
            </a:r>
          </a:p>
        </p:txBody>
      </p:sp>
      <p:sp>
        <p:nvSpPr>
          <p:cNvPr name="Freeform 5" id="5"/>
          <p:cNvSpPr/>
          <p:nvPr/>
        </p:nvSpPr>
        <p:spPr>
          <a:xfrm flipH="false" flipV="false" rot="0">
            <a:off x="6812687" y="879888"/>
            <a:ext cx="1543050" cy="1543050"/>
          </a:xfrm>
          <a:custGeom>
            <a:avLst/>
            <a:gdLst/>
            <a:ahLst/>
            <a:cxnLst/>
            <a:rect r="r" b="b" t="t" l="l"/>
            <a:pathLst>
              <a:path h="1543050" w="1543050">
                <a:moveTo>
                  <a:pt x="0" y="0"/>
                </a:moveTo>
                <a:lnTo>
                  <a:pt x="1543050" y="0"/>
                </a:lnTo>
                <a:lnTo>
                  <a:pt x="1543050" y="1543050"/>
                </a:lnTo>
                <a:lnTo>
                  <a:pt x="0" y="15430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847982" y="6647472"/>
            <a:ext cx="7257580" cy="1456561"/>
          </a:xfrm>
          <a:prstGeom prst="rect">
            <a:avLst/>
          </a:prstGeom>
        </p:spPr>
        <p:txBody>
          <a:bodyPr anchor="t" rtlCol="false" tIns="0" lIns="0" bIns="0" rIns="0">
            <a:spAutoFit/>
          </a:bodyPr>
          <a:lstStyle/>
          <a:p>
            <a:pPr algn="l">
              <a:lnSpc>
                <a:spcPts val="3740"/>
              </a:lnSpc>
            </a:pPr>
            <a:r>
              <a:rPr lang="en-US" sz="4299" spc="-210">
                <a:solidFill>
                  <a:srgbClr val="000000"/>
                </a:solidFill>
                <a:latin typeface="TT Interphases"/>
                <a:ea typeface="TT Interphases"/>
                <a:cs typeface="TT Interphases"/>
                <a:sym typeface="TT Interphases"/>
              </a:rPr>
              <a:t>Chan Shuo Kai (P2300533)</a:t>
            </a:r>
          </a:p>
          <a:p>
            <a:pPr algn="l">
              <a:lnSpc>
                <a:spcPts val="3740"/>
              </a:lnSpc>
            </a:pPr>
          </a:p>
          <a:p>
            <a:pPr algn="l">
              <a:lnSpc>
                <a:spcPts val="3740"/>
              </a:lnSpc>
            </a:pPr>
            <a:r>
              <a:rPr lang="en-US" sz="4299" spc="-210">
                <a:solidFill>
                  <a:srgbClr val="000000"/>
                </a:solidFill>
                <a:latin typeface="TT Interphases"/>
                <a:ea typeface="TT Interphases"/>
                <a:cs typeface="TT Interphases"/>
                <a:sym typeface="TT Interphases"/>
              </a:rPr>
              <a:t>DAAA/FT/2A21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245076"/>
            <a:ext cx="7548480" cy="7013224"/>
          </a:xfrm>
          <a:custGeom>
            <a:avLst/>
            <a:gdLst/>
            <a:ahLst/>
            <a:cxnLst/>
            <a:rect r="r" b="b" t="t" l="l"/>
            <a:pathLst>
              <a:path h="7013224" w="7548480">
                <a:moveTo>
                  <a:pt x="0" y="0"/>
                </a:moveTo>
                <a:lnTo>
                  <a:pt x="7548480" y="0"/>
                </a:lnTo>
                <a:lnTo>
                  <a:pt x="7548480" y="7013224"/>
                </a:lnTo>
                <a:lnTo>
                  <a:pt x="0" y="7013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6035449" y="1028700"/>
            <a:ext cx="1223851" cy="847795"/>
          </a:xfrm>
          <a:custGeom>
            <a:avLst/>
            <a:gdLst/>
            <a:ahLst/>
            <a:cxnLst/>
            <a:rect r="r" b="b" t="t" l="l"/>
            <a:pathLst>
              <a:path h="847795" w="1223851">
                <a:moveTo>
                  <a:pt x="1223851" y="0"/>
                </a:moveTo>
                <a:lnTo>
                  <a:pt x="0" y="0"/>
                </a:lnTo>
                <a:lnTo>
                  <a:pt x="0" y="847795"/>
                </a:lnTo>
                <a:lnTo>
                  <a:pt x="1223851" y="847795"/>
                </a:lnTo>
                <a:lnTo>
                  <a:pt x="122385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52294" y="2750290"/>
            <a:ext cx="6234058" cy="1054610"/>
          </a:xfrm>
          <a:prstGeom prst="rect">
            <a:avLst/>
          </a:prstGeom>
        </p:spPr>
        <p:txBody>
          <a:bodyPr anchor="t" rtlCol="false" tIns="0" lIns="0" bIns="0" rIns="0">
            <a:spAutoFit/>
          </a:bodyPr>
          <a:lstStyle/>
          <a:p>
            <a:pPr algn="l">
              <a:lnSpc>
                <a:spcPts val="7656"/>
              </a:lnSpc>
            </a:pPr>
            <a:r>
              <a:rPr lang="en-US" sz="8800" spc="-431" b="true">
                <a:solidFill>
                  <a:srgbClr val="000000"/>
                </a:solidFill>
                <a:latin typeface="TT Interphases Bold"/>
                <a:ea typeface="TT Interphases Bold"/>
                <a:cs typeface="TT Interphases Bold"/>
                <a:sym typeface="TT Interphases Bold"/>
              </a:rPr>
              <a:t>OBJECTIVE</a:t>
            </a:r>
          </a:p>
        </p:txBody>
      </p:sp>
      <p:sp>
        <p:nvSpPr>
          <p:cNvPr name="TextBox 5" id="5"/>
          <p:cNvSpPr txBox="true"/>
          <p:nvPr/>
        </p:nvSpPr>
        <p:spPr>
          <a:xfrm rot="0">
            <a:off x="10252294" y="4006109"/>
            <a:ext cx="7007006" cy="4331336"/>
          </a:xfrm>
          <a:prstGeom prst="rect">
            <a:avLst/>
          </a:prstGeom>
        </p:spPr>
        <p:txBody>
          <a:bodyPr anchor="t" rtlCol="false" tIns="0" lIns="0" bIns="0" rIns="0">
            <a:spAutoFit/>
          </a:bodyPr>
          <a:lstStyle/>
          <a:p>
            <a:pPr algn="l">
              <a:lnSpc>
                <a:spcPts val="4339"/>
              </a:lnSpc>
            </a:pPr>
            <a:r>
              <a:rPr lang="en-US" sz="3099" spc="-151">
                <a:solidFill>
                  <a:srgbClr val="000000"/>
                </a:solidFill>
                <a:latin typeface="TT Interphases"/>
                <a:ea typeface="TT Interphases"/>
                <a:cs typeface="TT Interphases"/>
                <a:sym typeface="TT Interphases"/>
              </a:rPr>
              <a:t>Discover ways to adjust fares and improve routes across MRT, LRT, buses, and taxis. Analyse the relationship between distance length and commuters.</a:t>
            </a:r>
          </a:p>
          <a:p>
            <a:pPr algn="l">
              <a:lnSpc>
                <a:spcPts val="4339"/>
              </a:lnSpc>
            </a:pPr>
          </a:p>
          <a:p>
            <a:pPr algn="l">
              <a:lnSpc>
                <a:spcPts val="4339"/>
              </a:lnSpc>
            </a:pPr>
            <a:r>
              <a:rPr lang="en-US" sz="3099" spc="-151">
                <a:solidFill>
                  <a:srgbClr val="000000"/>
                </a:solidFill>
                <a:latin typeface="TT Interphases"/>
                <a:ea typeface="TT Interphases"/>
                <a:cs typeface="TT Interphases"/>
                <a:sym typeface="TT Interphases"/>
              </a:rPr>
              <a:t>The goal is to make short trips cheaper, improve connections, and reduce congestion.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197498" y="7294055"/>
            <a:ext cx="4123603" cy="3801213"/>
          </a:xfrm>
          <a:custGeom>
            <a:avLst/>
            <a:gdLst/>
            <a:ahLst/>
            <a:cxnLst/>
            <a:rect r="r" b="b" t="t" l="l"/>
            <a:pathLst>
              <a:path h="3801213" w="4123603">
                <a:moveTo>
                  <a:pt x="0" y="0"/>
                </a:moveTo>
                <a:lnTo>
                  <a:pt x="4123604" y="0"/>
                </a:lnTo>
                <a:lnTo>
                  <a:pt x="4123604" y="3801213"/>
                </a:lnTo>
                <a:lnTo>
                  <a:pt x="0" y="38012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0876690" y="-120422"/>
            <a:ext cx="969594" cy="3396666"/>
          </a:xfrm>
          <a:custGeom>
            <a:avLst/>
            <a:gdLst/>
            <a:ahLst/>
            <a:cxnLst/>
            <a:rect r="r" b="b" t="t" l="l"/>
            <a:pathLst>
              <a:path h="3396666" w="969594">
                <a:moveTo>
                  <a:pt x="0" y="0"/>
                </a:moveTo>
                <a:lnTo>
                  <a:pt x="969594" y="0"/>
                </a:lnTo>
                <a:lnTo>
                  <a:pt x="969594" y="3396666"/>
                </a:lnTo>
                <a:lnTo>
                  <a:pt x="0" y="3396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33485" y="1193481"/>
            <a:ext cx="9601274" cy="1054610"/>
          </a:xfrm>
          <a:prstGeom prst="rect">
            <a:avLst/>
          </a:prstGeom>
        </p:spPr>
        <p:txBody>
          <a:bodyPr anchor="t" rtlCol="false" tIns="0" lIns="0" bIns="0" rIns="0">
            <a:spAutoFit/>
          </a:bodyPr>
          <a:lstStyle/>
          <a:p>
            <a:pPr algn="l">
              <a:lnSpc>
                <a:spcPts val="7656"/>
              </a:lnSpc>
            </a:pPr>
            <a:r>
              <a:rPr lang="en-US" sz="8800" spc="-431" b="true">
                <a:solidFill>
                  <a:srgbClr val="000000"/>
                </a:solidFill>
                <a:latin typeface="TT Interphases Bold"/>
                <a:ea typeface="TT Interphases Bold"/>
                <a:cs typeface="TT Interphases Bold"/>
                <a:sym typeface="TT Interphases Bold"/>
              </a:rPr>
              <a:t>DATASET USAGE</a:t>
            </a:r>
          </a:p>
        </p:txBody>
      </p:sp>
      <p:sp>
        <p:nvSpPr>
          <p:cNvPr name="TextBox 5" id="5"/>
          <p:cNvSpPr txBox="true"/>
          <p:nvPr/>
        </p:nvSpPr>
        <p:spPr>
          <a:xfrm rot="0">
            <a:off x="733485" y="2958798"/>
            <a:ext cx="2836600" cy="504825"/>
          </a:xfrm>
          <a:prstGeom prst="rect">
            <a:avLst/>
          </a:prstGeom>
        </p:spPr>
        <p:txBody>
          <a:bodyPr anchor="t" rtlCol="false" tIns="0" lIns="0" bIns="0" rIns="0">
            <a:spAutoFit/>
          </a:bodyPr>
          <a:lstStyle/>
          <a:p>
            <a:pPr algn="l">
              <a:lnSpc>
                <a:spcPts val="4199"/>
              </a:lnSpc>
            </a:pPr>
            <a:r>
              <a:rPr lang="en-US" sz="2999" spc="-146" b="true">
                <a:solidFill>
                  <a:srgbClr val="000000"/>
                </a:solidFill>
                <a:latin typeface="TT Interphases Bold"/>
                <a:ea typeface="TT Interphases Bold"/>
                <a:cs typeface="TT Interphases Bold"/>
                <a:sym typeface="TT Interphases Bold"/>
              </a:rPr>
              <a:t>daily_ridership</a:t>
            </a:r>
          </a:p>
        </p:txBody>
      </p:sp>
      <p:sp>
        <p:nvSpPr>
          <p:cNvPr name="TextBox 6" id="6"/>
          <p:cNvSpPr txBox="true"/>
          <p:nvPr/>
        </p:nvSpPr>
        <p:spPr>
          <a:xfrm rot="0">
            <a:off x="733485" y="3586535"/>
            <a:ext cx="4273073" cy="2389505"/>
          </a:xfrm>
          <a:prstGeom prst="rect">
            <a:avLst/>
          </a:prstGeom>
        </p:spPr>
        <p:txBody>
          <a:bodyPr anchor="t" rtlCol="false" tIns="0" lIns="0" bIns="0" rIns="0">
            <a:spAutoFit/>
          </a:bodyPr>
          <a:lstStyle/>
          <a:p>
            <a:pPr algn="l">
              <a:lnSpc>
                <a:spcPts val="3220"/>
              </a:lnSpc>
            </a:pPr>
            <a:r>
              <a:rPr lang="en-US" sz="2300" spc="-112">
                <a:solidFill>
                  <a:srgbClr val="000000"/>
                </a:solidFill>
                <a:latin typeface="TT Interphases"/>
                <a:ea typeface="TT Interphases"/>
                <a:cs typeface="TT Interphases"/>
                <a:sym typeface="TT Interphases"/>
              </a:rPr>
              <a:t>This dataset shows the average distance per trip for different modes of transportation (MRT, LRT, Bus, Taxi) over the years.</a:t>
            </a:r>
          </a:p>
          <a:p>
            <a:pPr algn="l">
              <a:lnSpc>
                <a:spcPts val="3220"/>
              </a:lnSpc>
            </a:pPr>
          </a:p>
          <a:p>
            <a:pPr algn="l">
              <a:lnSpc>
                <a:spcPts val="3220"/>
              </a:lnSpc>
            </a:pPr>
          </a:p>
        </p:txBody>
      </p:sp>
      <p:sp>
        <p:nvSpPr>
          <p:cNvPr name="TextBox 7" id="7"/>
          <p:cNvSpPr txBox="true"/>
          <p:nvPr/>
        </p:nvSpPr>
        <p:spPr>
          <a:xfrm rot="0">
            <a:off x="5813704" y="3006229"/>
            <a:ext cx="2836600" cy="504825"/>
          </a:xfrm>
          <a:prstGeom prst="rect">
            <a:avLst/>
          </a:prstGeom>
        </p:spPr>
        <p:txBody>
          <a:bodyPr anchor="t" rtlCol="false" tIns="0" lIns="0" bIns="0" rIns="0">
            <a:spAutoFit/>
          </a:bodyPr>
          <a:lstStyle/>
          <a:p>
            <a:pPr algn="l">
              <a:lnSpc>
                <a:spcPts val="4199"/>
              </a:lnSpc>
            </a:pPr>
            <a:r>
              <a:rPr lang="en-US" sz="2999" spc="-146" b="true">
                <a:solidFill>
                  <a:srgbClr val="000000"/>
                </a:solidFill>
                <a:latin typeface="TT Interphases Bold"/>
                <a:ea typeface="TT Interphases Bold"/>
                <a:cs typeface="TT Interphases Bold"/>
                <a:sym typeface="TT Interphases Bold"/>
              </a:rPr>
              <a:t>mrt_fares</a:t>
            </a:r>
          </a:p>
        </p:txBody>
      </p:sp>
      <p:sp>
        <p:nvSpPr>
          <p:cNvPr name="TextBox 8" id="8"/>
          <p:cNvSpPr txBox="true"/>
          <p:nvPr/>
        </p:nvSpPr>
        <p:spPr>
          <a:xfrm rot="0">
            <a:off x="5813704" y="3633966"/>
            <a:ext cx="4273073" cy="3589655"/>
          </a:xfrm>
          <a:prstGeom prst="rect">
            <a:avLst/>
          </a:prstGeom>
        </p:spPr>
        <p:txBody>
          <a:bodyPr anchor="t" rtlCol="false" tIns="0" lIns="0" bIns="0" rIns="0">
            <a:spAutoFit/>
          </a:bodyPr>
          <a:lstStyle/>
          <a:p>
            <a:pPr algn="l">
              <a:lnSpc>
                <a:spcPts val="3220"/>
              </a:lnSpc>
            </a:pPr>
            <a:r>
              <a:rPr lang="en-US" sz="2300" spc="-112">
                <a:solidFill>
                  <a:srgbClr val="000000"/>
                </a:solidFill>
                <a:latin typeface="TT Interphases"/>
                <a:ea typeface="TT Interphases"/>
                <a:cs typeface="TT Interphases"/>
                <a:sym typeface="TT Interphases"/>
              </a:rPr>
              <a:t>This dataset outlines adult card fares for MRT and LRT travel before 7:45 am on weekdays and all other timings, with fare amounts ranging from 69 to 109 based on different distance ranges (e.g., "Up to 3.2 km," "3.3 km - 4.2 km").</a:t>
            </a:r>
          </a:p>
          <a:p>
            <a:pPr algn="l">
              <a:lnSpc>
                <a:spcPts val="3220"/>
              </a:lnSpc>
            </a:pPr>
          </a:p>
          <a:p>
            <a:pPr algn="l">
              <a:lnSpc>
                <a:spcPts val="3220"/>
              </a:lnSpc>
            </a:pPr>
          </a:p>
        </p:txBody>
      </p:sp>
      <p:sp>
        <p:nvSpPr>
          <p:cNvPr name="TextBox 9" id="9"/>
          <p:cNvSpPr txBox="true"/>
          <p:nvPr/>
        </p:nvSpPr>
        <p:spPr>
          <a:xfrm rot="0">
            <a:off x="11361487" y="2958798"/>
            <a:ext cx="2836600" cy="504825"/>
          </a:xfrm>
          <a:prstGeom prst="rect">
            <a:avLst/>
          </a:prstGeom>
        </p:spPr>
        <p:txBody>
          <a:bodyPr anchor="t" rtlCol="false" tIns="0" lIns="0" bIns="0" rIns="0">
            <a:spAutoFit/>
          </a:bodyPr>
          <a:lstStyle/>
          <a:p>
            <a:pPr algn="l">
              <a:lnSpc>
                <a:spcPts val="4199"/>
              </a:lnSpc>
            </a:pPr>
            <a:r>
              <a:rPr lang="en-US" sz="2999" spc="-146" b="true">
                <a:solidFill>
                  <a:srgbClr val="000000"/>
                </a:solidFill>
                <a:latin typeface="TT Interphases Bold"/>
                <a:ea typeface="TT Interphases Bold"/>
                <a:cs typeface="TT Interphases Bold"/>
                <a:sym typeface="TT Interphases Bold"/>
              </a:rPr>
              <a:t>trip_distance</a:t>
            </a:r>
          </a:p>
        </p:txBody>
      </p:sp>
      <p:sp>
        <p:nvSpPr>
          <p:cNvPr name="TextBox 10" id="10"/>
          <p:cNvSpPr txBox="true"/>
          <p:nvPr/>
        </p:nvSpPr>
        <p:spPr>
          <a:xfrm rot="0">
            <a:off x="11361487" y="3586535"/>
            <a:ext cx="4273073" cy="1589405"/>
          </a:xfrm>
          <a:prstGeom prst="rect">
            <a:avLst/>
          </a:prstGeom>
        </p:spPr>
        <p:txBody>
          <a:bodyPr anchor="t" rtlCol="false" tIns="0" lIns="0" bIns="0" rIns="0">
            <a:spAutoFit/>
          </a:bodyPr>
          <a:lstStyle/>
          <a:p>
            <a:pPr algn="l">
              <a:lnSpc>
                <a:spcPts val="3220"/>
              </a:lnSpc>
            </a:pPr>
            <a:r>
              <a:rPr lang="en-US" sz="2300" spc="-112">
                <a:solidFill>
                  <a:srgbClr val="000000"/>
                </a:solidFill>
                <a:latin typeface="TT Interphases"/>
                <a:ea typeface="TT Interphases"/>
                <a:cs typeface="TT Interphases"/>
                <a:sym typeface="TT Interphases"/>
              </a:rPr>
              <a:t>This dataset shows the average distance per trip for different modes of transportation (MRT, LRT, Bus, Taxi) over the years.</a:t>
            </a:r>
          </a:p>
        </p:txBody>
      </p:sp>
      <p:sp>
        <p:nvSpPr>
          <p:cNvPr name="TextBox 11" id="11"/>
          <p:cNvSpPr txBox="true"/>
          <p:nvPr/>
        </p:nvSpPr>
        <p:spPr>
          <a:xfrm rot="0">
            <a:off x="733485" y="5404981"/>
            <a:ext cx="4273073" cy="2789555"/>
          </a:xfrm>
          <a:prstGeom prst="rect">
            <a:avLst/>
          </a:prstGeom>
        </p:spPr>
        <p:txBody>
          <a:bodyPr anchor="t" rtlCol="false" tIns="0" lIns="0" bIns="0" rIns="0">
            <a:spAutoFit/>
          </a:bodyPr>
          <a:lstStyle/>
          <a:p>
            <a:pPr algn="l">
              <a:lnSpc>
                <a:spcPts val="3220"/>
              </a:lnSpc>
            </a:pPr>
            <a:r>
              <a:rPr lang="en-US" sz="2300" spc="-112">
                <a:solidFill>
                  <a:srgbClr val="000000"/>
                </a:solidFill>
                <a:latin typeface="TT Interphases"/>
                <a:ea typeface="TT Interphases"/>
                <a:cs typeface="TT Interphases"/>
                <a:sym typeface="TT Interphases"/>
              </a:rPr>
              <a:t>LRT has values 0 in multiple years such as 1995 and 1996.</a:t>
            </a:r>
            <a:r>
              <a:rPr lang="en-US" sz="2300" spc="-112">
                <a:solidFill>
                  <a:srgbClr val="000000"/>
                </a:solidFill>
                <a:latin typeface="TT Interphases"/>
                <a:ea typeface="TT Interphases"/>
                <a:cs typeface="TT Interphases"/>
                <a:sym typeface="TT Interphases"/>
              </a:rPr>
              <a:t> </a:t>
            </a:r>
          </a:p>
          <a:p>
            <a:pPr algn="l">
              <a:lnSpc>
                <a:spcPts val="3220"/>
              </a:lnSpc>
            </a:pPr>
            <a:r>
              <a:rPr lang="en-US" sz="2300" spc="-112">
                <a:solidFill>
                  <a:srgbClr val="000000"/>
                </a:solidFill>
                <a:latin typeface="TT Interphases"/>
                <a:ea typeface="TT Interphases"/>
                <a:cs typeface="TT Interphases"/>
                <a:sym typeface="TT Interphases"/>
              </a:rPr>
              <a:t>This is because LRT had not been introduced until 1999 which means there was no data to collect.</a:t>
            </a:r>
          </a:p>
          <a:p>
            <a:pPr algn="l">
              <a:lnSpc>
                <a:spcPts val="3220"/>
              </a:lnSpc>
            </a:pPr>
          </a:p>
          <a:p>
            <a:pPr algn="l">
              <a:lnSpc>
                <a:spcPts val="3220"/>
              </a:lnSpc>
            </a:pPr>
          </a:p>
        </p:txBody>
      </p:sp>
      <p:sp>
        <p:nvSpPr>
          <p:cNvPr name="TextBox 12" id="12"/>
          <p:cNvSpPr txBox="true"/>
          <p:nvPr/>
        </p:nvSpPr>
        <p:spPr>
          <a:xfrm rot="0">
            <a:off x="5813704" y="6808540"/>
            <a:ext cx="4273073" cy="3989705"/>
          </a:xfrm>
          <a:prstGeom prst="rect">
            <a:avLst/>
          </a:prstGeom>
        </p:spPr>
        <p:txBody>
          <a:bodyPr anchor="t" rtlCol="false" tIns="0" lIns="0" bIns="0" rIns="0">
            <a:spAutoFit/>
          </a:bodyPr>
          <a:lstStyle/>
          <a:p>
            <a:pPr algn="l">
              <a:lnSpc>
                <a:spcPts val="3220"/>
              </a:lnSpc>
            </a:pPr>
            <a:r>
              <a:rPr lang="en-US" sz="2300" spc="-112">
                <a:solidFill>
                  <a:srgbClr val="000000"/>
                </a:solidFill>
                <a:latin typeface="TT Interphases"/>
                <a:ea typeface="TT Interphases"/>
                <a:cs typeface="TT Interphases"/>
                <a:sym typeface="TT Interphases"/>
              </a:rPr>
              <a:t>Applicable time only has two values: Before 7:45 AM (Weekdays excluding public holidays) and After 7:45 AM.</a:t>
            </a:r>
            <a:r>
              <a:rPr lang="en-US" sz="2300" spc="-112">
                <a:solidFill>
                  <a:srgbClr val="000000"/>
                </a:solidFill>
                <a:latin typeface="TT Interphases"/>
                <a:ea typeface="TT Interphases"/>
                <a:cs typeface="TT Interphases"/>
                <a:sym typeface="TT Interphases"/>
              </a:rPr>
              <a:t> </a:t>
            </a:r>
          </a:p>
          <a:p>
            <a:pPr algn="l">
              <a:lnSpc>
                <a:spcPts val="3220"/>
              </a:lnSpc>
            </a:pPr>
            <a:r>
              <a:rPr lang="en-US" sz="2300" spc="-112">
                <a:solidFill>
                  <a:srgbClr val="000000"/>
                </a:solidFill>
                <a:latin typeface="TT Interphases"/>
                <a:ea typeface="TT Interphases"/>
                <a:cs typeface="TT Interphases"/>
                <a:sym typeface="TT Interphases"/>
              </a:rPr>
              <a:t>This is because MRTs offer pre-peak hours discounts to commuters before 7.45am.</a:t>
            </a:r>
          </a:p>
          <a:p>
            <a:pPr algn="l">
              <a:lnSpc>
                <a:spcPts val="3220"/>
              </a:lnSpc>
            </a:pPr>
          </a:p>
          <a:p>
            <a:pPr algn="l">
              <a:lnSpc>
                <a:spcPts val="3220"/>
              </a:lnSpc>
            </a:pPr>
          </a:p>
          <a:p>
            <a:pPr algn="l">
              <a:lnSpc>
                <a:spcPts val="322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419404" y="126639"/>
            <a:ext cx="1701551" cy="1454052"/>
          </a:xfrm>
          <a:custGeom>
            <a:avLst/>
            <a:gdLst/>
            <a:ahLst/>
            <a:cxnLst/>
            <a:rect r="r" b="b" t="t" l="l"/>
            <a:pathLst>
              <a:path h="1454052" w="1701551">
                <a:moveTo>
                  <a:pt x="0" y="0"/>
                </a:moveTo>
                <a:lnTo>
                  <a:pt x="1701551" y="0"/>
                </a:lnTo>
                <a:lnTo>
                  <a:pt x="1701551" y="1454052"/>
                </a:lnTo>
                <a:lnTo>
                  <a:pt x="0" y="14540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7336323" y="3530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3055" y="1386216"/>
            <a:ext cx="9451718" cy="4536464"/>
          </a:xfrm>
          <a:custGeom>
            <a:avLst/>
            <a:gdLst/>
            <a:ahLst/>
            <a:cxnLst/>
            <a:rect r="r" b="b" t="t" l="l"/>
            <a:pathLst>
              <a:path h="4536464" w="9451718">
                <a:moveTo>
                  <a:pt x="0" y="0"/>
                </a:moveTo>
                <a:lnTo>
                  <a:pt x="9451718" y="0"/>
                </a:lnTo>
                <a:lnTo>
                  <a:pt x="9451718" y="4536464"/>
                </a:lnTo>
                <a:lnTo>
                  <a:pt x="0" y="4536464"/>
                </a:lnTo>
                <a:lnTo>
                  <a:pt x="0" y="0"/>
                </a:lnTo>
                <a:close/>
              </a:path>
            </a:pathLst>
          </a:custGeom>
          <a:blipFill>
            <a:blip r:embed="rId6"/>
            <a:stretch>
              <a:fillRect l="0" t="0" r="0" b="0"/>
            </a:stretch>
          </a:blipFill>
        </p:spPr>
      </p:sp>
      <p:sp>
        <p:nvSpPr>
          <p:cNvPr name="TextBox 5" id="5"/>
          <p:cNvSpPr txBox="true"/>
          <p:nvPr/>
        </p:nvSpPr>
        <p:spPr>
          <a:xfrm rot="0">
            <a:off x="143055" y="265488"/>
            <a:ext cx="14831251" cy="904875"/>
          </a:xfrm>
          <a:prstGeom prst="rect">
            <a:avLst/>
          </a:prstGeom>
        </p:spPr>
        <p:txBody>
          <a:bodyPr anchor="t" rtlCol="false" tIns="0" lIns="0" bIns="0" rIns="0">
            <a:spAutoFit/>
          </a:bodyPr>
          <a:lstStyle/>
          <a:p>
            <a:pPr algn="l">
              <a:lnSpc>
                <a:spcPts val="6525"/>
              </a:lnSpc>
            </a:pPr>
            <a:r>
              <a:rPr lang="en-US" sz="7500" spc="-367" b="true">
                <a:solidFill>
                  <a:srgbClr val="000000"/>
                </a:solidFill>
                <a:latin typeface="TT Interphases Bold"/>
                <a:ea typeface="TT Interphases Bold"/>
                <a:cs typeface="TT Interphases Bold"/>
                <a:sym typeface="TT Interphases Bold"/>
              </a:rPr>
              <a:t>ANALYSIS OF TRIP DISTANCES</a:t>
            </a:r>
          </a:p>
        </p:txBody>
      </p:sp>
      <p:grpSp>
        <p:nvGrpSpPr>
          <p:cNvPr name="Group 6" id="6"/>
          <p:cNvGrpSpPr/>
          <p:nvPr/>
        </p:nvGrpSpPr>
        <p:grpSpPr>
          <a:xfrm rot="0">
            <a:off x="9818826" y="1387827"/>
            <a:ext cx="6905497" cy="4127148"/>
            <a:chOff x="0" y="0"/>
            <a:chExt cx="9207329" cy="5502864"/>
          </a:xfrm>
        </p:grpSpPr>
        <p:sp>
          <p:nvSpPr>
            <p:cNvPr name="TextBox 7" id="7"/>
            <p:cNvSpPr txBox="true"/>
            <p:nvPr/>
          </p:nvSpPr>
          <p:spPr>
            <a:xfrm rot="0">
              <a:off x="0" y="-47625"/>
              <a:ext cx="5835368" cy="566227"/>
            </a:xfrm>
            <a:prstGeom prst="rect">
              <a:avLst/>
            </a:prstGeom>
          </p:spPr>
          <p:txBody>
            <a:bodyPr anchor="t" rtlCol="false" tIns="0" lIns="0" bIns="0" rIns="0">
              <a:spAutoFit/>
            </a:bodyPr>
            <a:lstStyle/>
            <a:p>
              <a:pPr algn="l">
                <a:lnSpc>
                  <a:spcPts val="3672"/>
                </a:lnSpc>
              </a:pPr>
              <a:r>
                <a:rPr lang="en-US" sz="2622" spc="-128" b="true">
                  <a:solidFill>
                    <a:srgbClr val="000000"/>
                  </a:solidFill>
                  <a:latin typeface="TT Interphases Bold"/>
                  <a:ea typeface="TT Interphases Bold"/>
                  <a:cs typeface="TT Interphases Bold"/>
                  <a:sym typeface="TT Interphases Bold"/>
                </a:rPr>
                <a:t>SANKEY CHART INSIGHTS</a:t>
              </a:r>
            </a:p>
          </p:txBody>
        </p:sp>
        <p:sp>
          <p:nvSpPr>
            <p:cNvPr name="TextBox 8" id="8"/>
            <p:cNvSpPr txBox="true"/>
            <p:nvPr/>
          </p:nvSpPr>
          <p:spPr>
            <a:xfrm rot="0">
              <a:off x="0" y="573359"/>
              <a:ext cx="9207329" cy="4929505"/>
            </a:xfrm>
            <a:prstGeom prst="rect">
              <a:avLst/>
            </a:prstGeom>
          </p:spPr>
          <p:txBody>
            <a:bodyPr anchor="t" rtlCol="false" tIns="0" lIns="0" bIns="0" rIns="0">
              <a:spAutoFit/>
            </a:bodyPr>
            <a:lstStyle/>
            <a:p>
              <a:pPr algn="l">
                <a:lnSpc>
                  <a:spcPts val="2940"/>
                </a:lnSpc>
              </a:pPr>
              <a:r>
                <a:rPr lang="en-US" sz="2100" spc="-102">
                  <a:solidFill>
                    <a:srgbClr val="000000"/>
                  </a:solidFill>
                  <a:latin typeface="TT Interphases"/>
                  <a:ea typeface="TT Interphases"/>
                  <a:cs typeface="TT Interphases"/>
                  <a:sym typeface="TT Interphases"/>
                </a:rPr>
                <a:t>Buses and Taxis are the modes present in both shorter trips and longer trips while LRT and MRT are primarily used for short and long trips respectively. </a:t>
              </a:r>
            </a:p>
            <a:p>
              <a:pPr algn="l">
                <a:lnSpc>
                  <a:spcPts val="2940"/>
                </a:lnSpc>
              </a:pPr>
              <a:r>
                <a:rPr lang="en-US" sz="2100" spc="-102">
                  <a:solidFill>
                    <a:srgbClr val="000000"/>
                  </a:solidFill>
                  <a:latin typeface="TT Interphases"/>
                  <a:ea typeface="TT Interphases"/>
                  <a:cs typeface="TT Interphases"/>
                  <a:sym typeface="TT Interphases"/>
                </a:rPr>
                <a:t>We can see that most short trips fall in the 2-5 km range, while long trips are typically over 8 km. </a:t>
              </a:r>
            </a:p>
            <a:p>
              <a:pPr algn="l">
                <a:lnSpc>
                  <a:spcPts val="2940"/>
                </a:lnSpc>
              </a:pPr>
              <a:r>
                <a:rPr lang="en-US" sz="2100" spc="-102">
                  <a:solidFill>
                    <a:srgbClr val="000000"/>
                  </a:solidFill>
                  <a:latin typeface="TT Interphases"/>
                  <a:ea typeface="TT Interphases"/>
                  <a:cs typeface="TT Interphases"/>
                  <a:sym typeface="TT Interphases"/>
                </a:rPr>
                <a:t>The 0-2 km range is smaller, likely due to the preference for walking or cycling for such short distances. </a:t>
              </a:r>
            </a:p>
            <a:p>
              <a:pPr algn="l">
                <a:lnSpc>
                  <a:spcPts val="2940"/>
                </a:lnSpc>
              </a:pPr>
            </a:p>
            <a:p>
              <a:pPr algn="l">
                <a:lnSpc>
                  <a:spcPts val="2940"/>
                </a:lnSpc>
              </a:pPr>
              <a:r>
                <a:rPr lang="en-US" sz="2100" spc="-102">
                  <a:solidFill>
                    <a:srgbClr val="000000"/>
                  </a:solidFill>
                  <a:latin typeface="TT Interphases"/>
                  <a:ea typeface="TT Interphases"/>
                  <a:cs typeface="TT Interphases"/>
                  <a:sym typeface="TT Interphases"/>
                </a:rPr>
                <a:t>This shows MRT’s central role in long commutes, with Buses and Taxis complementing shorter journeys.</a:t>
              </a:r>
            </a:p>
          </p:txBody>
        </p:sp>
      </p:grpSp>
      <p:sp>
        <p:nvSpPr>
          <p:cNvPr name="Freeform 9" id="9"/>
          <p:cNvSpPr/>
          <p:nvPr/>
        </p:nvSpPr>
        <p:spPr>
          <a:xfrm flipH="false" flipV="false" rot="0">
            <a:off x="143055" y="6048727"/>
            <a:ext cx="11978136" cy="4121195"/>
          </a:xfrm>
          <a:custGeom>
            <a:avLst/>
            <a:gdLst/>
            <a:ahLst/>
            <a:cxnLst/>
            <a:rect r="r" b="b" t="t" l="l"/>
            <a:pathLst>
              <a:path h="4121195" w="11978136">
                <a:moveTo>
                  <a:pt x="0" y="0"/>
                </a:moveTo>
                <a:lnTo>
                  <a:pt x="11978136" y="0"/>
                </a:lnTo>
                <a:lnTo>
                  <a:pt x="11978136" y="4121195"/>
                </a:lnTo>
                <a:lnTo>
                  <a:pt x="0" y="4121195"/>
                </a:lnTo>
                <a:lnTo>
                  <a:pt x="0" y="0"/>
                </a:lnTo>
                <a:close/>
              </a:path>
            </a:pathLst>
          </a:custGeom>
          <a:blipFill>
            <a:blip r:embed="rId7"/>
            <a:stretch>
              <a:fillRect l="0" t="-5510" r="0" b="0"/>
            </a:stretch>
          </a:blipFill>
        </p:spPr>
      </p:sp>
      <p:sp>
        <p:nvSpPr>
          <p:cNvPr name="TextBox 10" id="10"/>
          <p:cNvSpPr txBox="true"/>
          <p:nvPr/>
        </p:nvSpPr>
        <p:spPr>
          <a:xfrm rot="0">
            <a:off x="12347797" y="6001102"/>
            <a:ext cx="4376526" cy="436576"/>
          </a:xfrm>
          <a:prstGeom prst="rect">
            <a:avLst/>
          </a:prstGeom>
        </p:spPr>
        <p:txBody>
          <a:bodyPr anchor="t" rtlCol="false" tIns="0" lIns="0" bIns="0" rIns="0">
            <a:spAutoFit/>
          </a:bodyPr>
          <a:lstStyle/>
          <a:p>
            <a:pPr algn="l">
              <a:lnSpc>
                <a:spcPts val="3672"/>
              </a:lnSpc>
            </a:pPr>
            <a:r>
              <a:rPr lang="en-US" sz="2622" spc="-128" b="true">
                <a:solidFill>
                  <a:srgbClr val="000000"/>
                </a:solidFill>
                <a:latin typeface="TT Interphases Bold"/>
                <a:ea typeface="TT Interphases Bold"/>
                <a:cs typeface="TT Interphases Bold"/>
                <a:sym typeface="TT Interphases Bold"/>
              </a:rPr>
              <a:t>VIOLIN PLOT INSIGHTS</a:t>
            </a:r>
          </a:p>
        </p:txBody>
      </p:sp>
      <p:sp>
        <p:nvSpPr>
          <p:cNvPr name="TextBox 11" id="11"/>
          <p:cNvSpPr txBox="true"/>
          <p:nvPr/>
        </p:nvSpPr>
        <p:spPr>
          <a:xfrm rot="0">
            <a:off x="12347797" y="6475778"/>
            <a:ext cx="5509218" cy="3327101"/>
          </a:xfrm>
          <a:prstGeom prst="rect">
            <a:avLst/>
          </a:prstGeom>
        </p:spPr>
        <p:txBody>
          <a:bodyPr anchor="t" rtlCol="false" tIns="0" lIns="0" bIns="0" rIns="0">
            <a:spAutoFit/>
          </a:bodyPr>
          <a:lstStyle/>
          <a:p>
            <a:pPr algn="l">
              <a:lnSpc>
                <a:spcPts val="2991"/>
              </a:lnSpc>
            </a:pPr>
            <a:r>
              <a:rPr lang="en-US" sz="2136" spc="-104">
                <a:solidFill>
                  <a:srgbClr val="000000"/>
                </a:solidFill>
                <a:latin typeface="TT Interphases"/>
                <a:ea typeface="TT Interphases"/>
                <a:cs typeface="TT Interphases"/>
                <a:sym typeface="TT Interphases"/>
              </a:rPr>
              <a:t>Short-distance trips mostly cluster around 1-5 km, with minimal extreme values. In contrast, long-distance trips tend to center around 8-12 km, but with a broader spread. The short-distance trips show more density at lower values, while long trips exhibit more variation but peak around the 10 km range. This suggests that most commuters take shorter trips, likely for daily commutes, while long-distance trips are less common but still significant.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358520"/>
            <a:ext cx="8953900" cy="3772802"/>
          </a:xfrm>
          <a:custGeom>
            <a:avLst/>
            <a:gdLst/>
            <a:ahLst/>
            <a:cxnLst/>
            <a:rect r="r" b="b" t="t" l="l"/>
            <a:pathLst>
              <a:path h="3772802" w="8953900">
                <a:moveTo>
                  <a:pt x="0" y="0"/>
                </a:moveTo>
                <a:lnTo>
                  <a:pt x="8953900" y="0"/>
                </a:lnTo>
                <a:lnTo>
                  <a:pt x="8953900" y="3772802"/>
                </a:lnTo>
                <a:lnTo>
                  <a:pt x="0" y="3772802"/>
                </a:lnTo>
                <a:lnTo>
                  <a:pt x="0" y="0"/>
                </a:lnTo>
                <a:close/>
              </a:path>
            </a:pathLst>
          </a:custGeom>
          <a:blipFill>
            <a:blip r:embed="rId2"/>
            <a:stretch>
              <a:fillRect l="-3957" t="-15618" r="-18952" b="-11862"/>
            </a:stretch>
          </a:blipFill>
        </p:spPr>
      </p:sp>
      <p:sp>
        <p:nvSpPr>
          <p:cNvPr name="Freeform 3" id="3"/>
          <p:cNvSpPr/>
          <p:nvPr/>
        </p:nvSpPr>
        <p:spPr>
          <a:xfrm flipH="false" flipV="false" rot="0">
            <a:off x="293246" y="4444948"/>
            <a:ext cx="13255299" cy="4070887"/>
          </a:xfrm>
          <a:custGeom>
            <a:avLst/>
            <a:gdLst/>
            <a:ahLst/>
            <a:cxnLst/>
            <a:rect r="r" b="b" t="t" l="l"/>
            <a:pathLst>
              <a:path h="4070887" w="13255299">
                <a:moveTo>
                  <a:pt x="0" y="0"/>
                </a:moveTo>
                <a:lnTo>
                  <a:pt x="13255299" y="0"/>
                </a:lnTo>
                <a:lnTo>
                  <a:pt x="13255299" y="4070887"/>
                </a:lnTo>
                <a:lnTo>
                  <a:pt x="0" y="4070887"/>
                </a:lnTo>
                <a:lnTo>
                  <a:pt x="0" y="0"/>
                </a:lnTo>
                <a:close/>
              </a:path>
            </a:pathLst>
          </a:custGeom>
          <a:blipFill>
            <a:blip r:embed="rId3"/>
            <a:stretch>
              <a:fillRect l="0" t="0" r="0" b="0"/>
            </a:stretch>
          </a:blipFill>
        </p:spPr>
      </p:sp>
      <p:sp>
        <p:nvSpPr>
          <p:cNvPr name="TextBox 4" id="4"/>
          <p:cNvSpPr txBox="true"/>
          <p:nvPr/>
        </p:nvSpPr>
        <p:spPr>
          <a:xfrm rot="0">
            <a:off x="293246" y="539495"/>
            <a:ext cx="11555730" cy="727710"/>
          </a:xfrm>
          <a:prstGeom prst="rect">
            <a:avLst/>
          </a:prstGeom>
        </p:spPr>
        <p:txBody>
          <a:bodyPr anchor="t" rtlCol="false" tIns="0" lIns="0" bIns="0" rIns="0">
            <a:spAutoFit/>
          </a:bodyPr>
          <a:lstStyle/>
          <a:p>
            <a:pPr algn="l">
              <a:lnSpc>
                <a:spcPts val="5220"/>
              </a:lnSpc>
            </a:pPr>
            <a:r>
              <a:rPr lang="en-US" sz="6000" spc="-294" b="true">
                <a:solidFill>
                  <a:srgbClr val="000000"/>
                </a:solidFill>
                <a:latin typeface="TT Interphases Bold"/>
                <a:ea typeface="TT Interphases Bold"/>
                <a:cs typeface="TT Interphases Bold"/>
                <a:sym typeface="TT Interphases Bold"/>
              </a:rPr>
              <a:t>RIDERSHIP BREAKDOWN</a:t>
            </a:r>
          </a:p>
        </p:txBody>
      </p:sp>
      <p:sp>
        <p:nvSpPr>
          <p:cNvPr name="TextBox 5" id="5"/>
          <p:cNvSpPr txBox="true"/>
          <p:nvPr/>
        </p:nvSpPr>
        <p:spPr>
          <a:xfrm rot="0">
            <a:off x="4592465" y="1438471"/>
            <a:ext cx="4376526" cy="436576"/>
          </a:xfrm>
          <a:prstGeom prst="rect">
            <a:avLst/>
          </a:prstGeom>
        </p:spPr>
        <p:txBody>
          <a:bodyPr anchor="t" rtlCol="false" tIns="0" lIns="0" bIns="0" rIns="0">
            <a:spAutoFit/>
          </a:bodyPr>
          <a:lstStyle/>
          <a:p>
            <a:pPr algn="l">
              <a:lnSpc>
                <a:spcPts val="3672"/>
              </a:lnSpc>
            </a:pPr>
            <a:r>
              <a:rPr lang="en-US" sz="2622" spc="-128" b="true">
                <a:solidFill>
                  <a:srgbClr val="000000"/>
                </a:solidFill>
                <a:latin typeface="TT Interphases Bold"/>
                <a:ea typeface="TT Interphases Bold"/>
                <a:cs typeface="TT Interphases Bold"/>
                <a:sym typeface="TT Interphases Bold"/>
              </a:rPr>
              <a:t>SUNBURST CHART INSIGHTS</a:t>
            </a:r>
          </a:p>
        </p:txBody>
      </p:sp>
      <p:sp>
        <p:nvSpPr>
          <p:cNvPr name="TextBox 6" id="6"/>
          <p:cNvSpPr txBox="true"/>
          <p:nvPr/>
        </p:nvSpPr>
        <p:spPr>
          <a:xfrm rot="0">
            <a:off x="293246" y="1956447"/>
            <a:ext cx="8675745" cy="2174875"/>
          </a:xfrm>
          <a:prstGeom prst="rect">
            <a:avLst/>
          </a:prstGeom>
        </p:spPr>
        <p:txBody>
          <a:bodyPr anchor="t" rtlCol="false" tIns="0" lIns="0" bIns="0" rIns="0">
            <a:spAutoFit/>
          </a:bodyPr>
          <a:lstStyle/>
          <a:p>
            <a:pPr algn="r">
              <a:lnSpc>
                <a:spcPts val="3499"/>
              </a:lnSpc>
            </a:pPr>
            <a:r>
              <a:rPr lang="en-US" sz="2499" spc="-122">
                <a:solidFill>
                  <a:srgbClr val="000000"/>
                </a:solidFill>
                <a:latin typeface="TT Interphases"/>
                <a:ea typeface="TT Interphases"/>
                <a:cs typeface="TT Interphases"/>
                <a:sym typeface="TT Interphases"/>
              </a:rPr>
              <a:t> Public Buses (blue) as the dominant mode, with MRT (red) holding a significant share across the top 3 years. LRT (green) plays a smaller role, while MRT and Buses lead in meeting public transport needs. 2017-2019 were peak ridership years, showing strong transport demand before COVID-19.</a:t>
            </a:r>
          </a:p>
        </p:txBody>
      </p:sp>
      <p:sp>
        <p:nvSpPr>
          <p:cNvPr name="TextBox 7" id="7"/>
          <p:cNvSpPr txBox="true"/>
          <p:nvPr/>
        </p:nvSpPr>
        <p:spPr>
          <a:xfrm rot="0">
            <a:off x="13883330" y="4397323"/>
            <a:ext cx="4376526" cy="436576"/>
          </a:xfrm>
          <a:prstGeom prst="rect">
            <a:avLst/>
          </a:prstGeom>
        </p:spPr>
        <p:txBody>
          <a:bodyPr anchor="t" rtlCol="false" tIns="0" lIns="0" bIns="0" rIns="0">
            <a:spAutoFit/>
          </a:bodyPr>
          <a:lstStyle/>
          <a:p>
            <a:pPr algn="l">
              <a:lnSpc>
                <a:spcPts val="3672"/>
              </a:lnSpc>
            </a:pPr>
            <a:r>
              <a:rPr lang="en-US" sz="2622" spc="-128" b="true">
                <a:solidFill>
                  <a:srgbClr val="000000"/>
                </a:solidFill>
                <a:latin typeface="TT Interphases Bold"/>
                <a:ea typeface="TT Interphases Bold"/>
                <a:cs typeface="TT Interphases Bold"/>
                <a:sym typeface="TT Interphases Bold"/>
              </a:rPr>
              <a:t>BARCHART INSIGHTS</a:t>
            </a:r>
          </a:p>
        </p:txBody>
      </p:sp>
      <p:sp>
        <p:nvSpPr>
          <p:cNvPr name="TextBox 8" id="8"/>
          <p:cNvSpPr txBox="true"/>
          <p:nvPr/>
        </p:nvSpPr>
        <p:spPr>
          <a:xfrm rot="0">
            <a:off x="13855185" y="4823549"/>
            <a:ext cx="4242715" cy="5041411"/>
          </a:xfrm>
          <a:prstGeom prst="rect">
            <a:avLst/>
          </a:prstGeom>
        </p:spPr>
        <p:txBody>
          <a:bodyPr anchor="t" rtlCol="false" tIns="0" lIns="0" bIns="0" rIns="0">
            <a:spAutoFit/>
          </a:bodyPr>
          <a:lstStyle/>
          <a:p>
            <a:pPr algn="l">
              <a:lnSpc>
                <a:spcPts val="3371"/>
              </a:lnSpc>
            </a:pPr>
            <a:r>
              <a:rPr lang="en-US" sz="2408" spc="-117">
                <a:solidFill>
                  <a:srgbClr val="000000"/>
                </a:solidFill>
                <a:latin typeface="TT Interphases"/>
                <a:ea typeface="TT Interphases"/>
                <a:cs typeface="TT Interphases"/>
                <a:sym typeface="TT Interphases"/>
              </a:rPr>
              <a:t>MRT is often prioritised by the governemnt with expansions every few years indicative of the growth changes seen in the bar chart. Bus being the secondary option still sees consistent growth each year. This means that MRT requires heavy investment and constant evaluation in order to maintain its growth. Buses may be seen as a  more reliable option compared to MRT.</a:t>
            </a:r>
          </a:p>
        </p:txBody>
      </p:sp>
      <p:sp>
        <p:nvSpPr>
          <p:cNvPr name="TextBox 9" id="9"/>
          <p:cNvSpPr txBox="true"/>
          <p:nvPr/>
        </p:nvSpPr>
        <p:spPr>
          <a:xfrm rot="0">
            <a:off x="344134" y="8782535"/>
            <a:ext cx="13204410" cy="1163320"/>
          </a:xfrm>
          <a:prstGeom prst="rect">
            <a:avLst/>
          </a:prstGeom>
        </p:spPr>
        <p:txBody>
          <a:bodyPr anchor="t" rtlCol="false" tIns="0" lIns="0" bIns="0" rIns="0">
            <a:spAutoFit/>
          </a:bodyPr>
          <a:lstStyle/>
          <a:p>
            <a:pPr algn="l">
              <a:lnSpc>
                <a:spcPts val="3079"/>
              </a:lnSpc>
            </a:pPr>
            <a:r>
              <a:rPr lang="en-US" sz="2199" spc="-107">
                <a:solidFill>
                  <a:srgbClr val="000000"/>
                </a:solidFill>
                <a:latin typeface="TT Interphases"/>
                <a:ea typeface="TT Interphases"/>
                <a:cs typeface="TT Interphases"/>
                <a:sym typeface="TT Interphases"/>
              </a:rPr>
              <a:t>Ridership for MRT, LRT, and Public Buses grew steadily until 2020, when COVID-19 caused a sharp decline. Afterward, ridership rebounded, indicating a post-pandemic recovery. MRT (blue) showed the most fluctuations, likely due to expansions or repairs, while Public Buses (green) and LRT (brown) maintained more stable ridership trends.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21143" y="331081"/>
            <a:ext cx="2383169" cy="1395237"/>
          </a:xfrm>
          <a:custGeom>
            <a:avLst/>
            <a:gdLst/>
            <a:ahLst/>
            <a:cxnLst/>
            <a:rect r="r" b="b" t="t" l="l"/>
            <a:pathLst>
              <a:path h="1395237" w="2383169">
                <a:moveTo>
                  <a:pt x="0" y="0"/>
                </a:moveTo>
                <a:lnTo>
                  <a:pt x="2383169" y="0"/>
                </a:lnTo>
                <a:lnTo>
                  <a:pt x="2383169" y="1395238"/>
                </a:lnTo>
                <a:lnTo>
                  <a:pt x="0" y="13952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7232" y="1856585"/>
            <a:ext cx="13235629" cy="3940555"/>
          </a:xfrm>
          <a:custGeom>
            <a:avLst/>
            <a:gdLst/>
            <a:ahLst/>
            <a:cxnLst/>
            <a:rect r="r" b="b" t="t" l="l"/>
            <a:pathLst>
              <a:path h="3940555" w="13235629">
                <a:moveTo>
                  <a:pt x="0" y="0"/>
                </a:moveTo>
                <a:lnTo>
                  <a:pt x="13235629" y="0"/>
                </a:lnTo>
                <a:lnTo>
                  <a:pt x="13235629" y="3940555"/>
                </a:lnTo>
                <a:lnTo>
                  <a:pt x="0" y="3940555"/>
                </a:lnTo>
                <a:lnTo>
                  <a:pt x="0" y="0"/>
                </a:lnTo>
                <a:close/>
              </a:path>
            </a:pathLst>
          </a:custGeom>
          <a:blipFill>
            <a:blip r:embed="rId4"/>
            <a:stretch>
              <a:fillRect l="0" t="0" r="0" b="0"/>
            </a:stretch>
          </a:blipFill>
        </p:spPr>
      </p:sp>
      <p:sp>
        <p:nvSpPr>
          <p:cNvPr name="TextBox 4" id="4"/>
          <p:cNvSpPr txBox="true"/>
          <p:nvPr/>
        </p:nvSpPr>
        <p:spPr>
          <a:xfrm rot="0">
            <a:off x="597232" y="512056"/>
            <a:ext cx="13940573" cy="1384935"/>
          </a:xfrm>
          <a:prstGeom prst="rect">
            <a:avLst/>
          </a:prstGeom>
        </p:spPr>
        <p:txBody>
          <a:bodyPr anchor="t" rtlCol="false" tIns="0" lIns="0" bIns="0" rIns="0">
            <a:spAutoFit/>
          </a:bodyPr>
          <a:lstStyle/>
          <a:p>
            <a:pPr algn="l">
              <a:lnSpc>
                <a:spcPts val="5220"/>
              </a:lnSpc>
            </a:pPr>
            <a:r>
              <a:rPr lang="en-US" sz="6000" spc="-294" b="true">
                <a:solidFill>
                  <a:srgbClr val="000000"/>
                </a:solidFill>
                <a:latin typeface="TT Interphases Bold"/>
                <a:ea typeface="TT Interphases Bold"/>
                <a:cs typeface="TT Interphases Bold"/>
                <a:sym typeface="TT Interphases Bold"/>
              </a:rPr>
              <a:t>COST/KM DISTRIBUTION BY DISTANCE AND APPLICABLE TIME</a:t>
            </a:r>
          </a:p>
        </p:txBody>
      </p:sp>
      <p:sp>
        <p:nvSpPr>
          <p:cNvPr name="TextBox 5" id="5"/>
          <p:cNvSpPr txBox="true"/>
          <p:nvPr/>
        </p:nvSpPr>
        <p:spPr>
          <a:xfrm rot="0">
            <a:off x="597232" y="5933269"/>
            <a:ext cx="4376526" cy="436576"/>
          </a:xfrm>
          <a:prstGeom prst="rect">
            <a:avLst/>
          </a:prstGeom>
        </p:spPr>
        <p:txBody>
          <a:bodyPr anchor="t" rtlCol="false" tIns="0" lIns="0" bIns="0" rIns="0">
            <a:spAutoFit/>
          </a:bodyPr>
          <a:lstStyle/>
          <a:p>
            <a:pPr algn="l">
              <a:lnSpc>
                <a:spcPts val="3672"/>
              </a:lnSpc>
            </a:pPr>
            <a:r>
              <a:rPr lang="en-US" sz="2622" spc="-128" b="true">
                <a:solidFill>
                  <a:srgbClr val="000000"/>
                </a:solidFill>
                <a:latin typeface="TT Interphases Bold"/>
                <a:ea typeface="TT Interphases Bold"/>
                <a:cs typeface="TT Interphases Bold"/>
                <a:sym typeface="TT Interphases Bold"/>
              </a:rPr>
              <a:t>BOXPLOT INSIGHTS</a:t>
            </a:r>
          </a:p>
        </p:txBody>
      </p:sp>
      <p:sp>
        <p:nvSpPr>
          <p:cNvPr name="TextBox 6" id="6"/>
          <p:cNvSpPr txBox="true"/>
          <p:nvPr/>
        </p:nvSpPr>
        <p:spPr>
          <a:xfrm rot="0">
            <a:off x="597232" y="6493671"/>
            <a:ext cx="8675745" cy="2929890"/>
          </a:xfrm>
          <a:prstGeom prst="rect">
            <a:avLst/>
          </a:prstGeom>
        </p:spPr>
        <p:txBody>
          <a:bodyPr anchor="t" rtlCol="false" tIns="0" lIns="0" bIns="0" rIns="0">
            <a:spAutoFit/>
          </a:bodyPr>
          <a:lstStyle/>
          <a:p>
            <a:pPr algn="just">
              <a:lnSpc>
                <a:spcPts val="3359"/>
              </a:lnSpc>
            </a:pPr>
            <a:r>
              <a:rPr lang="en-US" sz="2399" spc="-117">
                <a:solidFill>
                  <a:srgbClr val="000000"/>
                </a:solidFill>
                <a:latin typeface="TT Interphases"/>
                <a:ea typeface="TT Interphases"/>
                <a:cs typeface="TT Interphases"/>
                <a:sym typeface="TT Interphases"/>
              </a:rPr>
              <a:t>Fare costs vary significantly by travel time, with lower fares before 7:45 am to reduce peak congestion. Shorter trips (0-3.2 km) are more expensive per km due to minimum fare policies, while longer trips are more cost-effective. </a:t>
            </a:r>
          </a:p>
          <a:p>
            <a:pPr algn="just">
              <a:lnSpc>
                <a:spcPts val="3359"/>
              </a:lnSpc>
            </a:pPr>
            <a:r>
              <a:rPr lang="en-US" sz="2399" spc="-117">
                <a:solidFill>
                  <a:srgbClr val="000000"/>
                </a:solidFill>
                <a:latin typeface="TT Interphases"/>
                <a:ea typeface="TT Interphases"/>
                <a:cs typeface="TT Interphases"/>
                <a:sym typeface="TT Interphases"/>
              </a:rPr>
              <a:t>This pricing structure encourages early commuting and favors longer trips, promoting efficient cross-city travel while potentially discouraging short-distance public transport use in favor of walking or cycling.</a:t>
            </a:r>
          </a:p>
        </p:txBody>
      </p:sp>
      <p:sp>
        <p:nvSpPr>
          <p:cNvPr name="TextBox 7" id="7"/>
          <p:cNvSpPr txBox="true"/>
          <p:nvPr/>
        </p:nvSpPr>
        <p:spPr>
          <a:xfrm rot="0">
            <a:off x="14047546" y="1839841"/>
            <a:ext cx="3981560" cy="2734310"/>
          </a:xfrm>
          <a:prstGeom prst="rect">
            <a:avLst/>
          </a:prstGeom>
        </p:spPr>
        <p:txBody>
          <a:bodyPr anchor="t" rtlCol="false" tIns="0" lIns="0" bIns="0" rIns="0">
            <a:spAutoFit/>
          </a:bodyPr>
          <a:lstStyle/>
          <a:p>
            <a:pPr algn="just">
              <a:lnSpc>
                <a:spcPts val="3639"/>
              </a:lnSpc>
            </a:pPr>
            <a:r>
              <a:rPr lang="en-US" sz="2599" spc="-127">
                <a:solidFill>
                  <a:srgbClr val="000000"/>
                </a:solidFill>
                <a:latin typeface="TT Interphases"/>
                <a:ea typeface="TT Interphases"/>
                <a:cs typeface="TT Interphases"/>
                <a:sym typeface="TT Interphases"/>
              </a:rPr>
              <a:t>We can see that most commuters prefer long distance travels by the concentration of data points at 7km-12km and especially 12+km.</a:t>
            </a:r>
          </a:p>
        </p:txBody>
      </p:sp>
      <p:sp>
        <p:nvSpPr>
          <p:cNvPr name="TextBox 8" id="8"/>
          <p:cNvSpPr txBox="true"/>
          <p:nvPr/>
        </p:nvSpPr>
        <p:spPr>
          <a:xfrm rot="0">
            <a:off x="9876117" y="6493671"/>
            <a:ext cx="7383183" cy="2091690"/>
          </a:xfrm>
          <a:prstGeom prst="rect">
            <a:avLst/>
          </a:prstGeom>
        </p:spPr>
        <p:txBody>
          <a:bodyPr anchor="t" rtlCol="false" tIns="0" lIns="0" bIns="0" rIns="0">
            <a:spAutoFit/>
          </a:bodyPr>
          <a:lstStyle/>
          <a:p>
            <a:pPr algn="just">
              <a:lnSpc>
                <a:spcPts val="3359"/>
              </a:lnSpc>
            </a:pPr>
            <a:r>
              <a:rPr lang="en-US" sz="2399" spc="-117">
                <a:solidFill>
                  <a:srgbClr val="000000"/>
                </a:solidFill>
                <a:latin typeface="TT Interphases"/>
                <a:ea typeface="TT Interphases"/>
                <a:cs typeface="TT Interphases"/>
                <a:sym typeface="TT Interphases"/>
              </a:rPr>
              <a:t>Short-distance trips (0-7 km) have higher variability in cost per km, often making them more expensive, which may discourage public transport use for shorter trips. Long-distance trips (12+ km) have stable, predictable costs, supporting affordability for commuters.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375826" y="318506"/>
            <a:ext cx="2383169" cy="1395237"/>
          </a:xfrm>
          <a:custGeom>
            <a:avLst/>
            <a:gdLst/>
            <a:ahLst/>
            <a:cxnLst/>
            <a:rect r="r" b="b" t="t" l="l"/>
            <a:pathLst>
              <a:path h="1395237" w="2383169">
                <a:moveTo>
                  <a:pt x="0" y="0"/>
                </a:moveTo>
                <a:lnTo>
                  <a:pt x="2383169" y="0"/>
                </a:lnTo>
                <a:lnTo>
                  <a:pt x="2383169" y="1395237"/>
                </a:lnTo>
                <a:lnTo>
                  <a:pt x="0" y="13952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72439" y="1726319"/>
            <a:ext cx="13234385" cy="3950217"/>
          </a:xfrm>
          <a:custGeom>
            <a:avLst/>
            <a:gdLst/>
            <a:ahLst/>
            <a:cxnLst/>
            <a:rect r="r" b="b" t="t" l="l"/>
            <a:pathLst>
              <a:path h="3950217" w="13234385">
                <a:moveTo>
                  <a:pt x="0" y="0"/>
                </a:moveTo>
                <a:lnTo>
                  <a:pt x="13234385" y="0"/>
                </a:lnTo>
                <a:lnTo>
                  <a:pt x="13234385" y="3950216"/>
                </a:lnTo>
                <a:lnTo>
                  <a:pt x="0" y="3950216"/>
                </a:lnTo>
                <a:lnTo>
                  <a:pt x="0" y="0"/>
                </a:lnTo>
                <a:close/>
              </a:path>
            </a:pathLst>
          </a:custGeom>
          <a:blipFill>
            <a:blip r:embed="rId4"/>
            <a:stretch>
              <a:fillRect l="0" t="0" r="0" b="0"/>
            </a:stretch>
          </a:blipFill>
        </p:spPr>
      </p:sp>
      <p:sp>
        <p:nvSpPr>
          <p:cNvPr name="Freeform 4" id="4"/>
          <p:cNvSpPr/>
          <p:nvPr/>
        </p:nvSpPr>
        <p:spPr>
          <a:xfrm flipH="false" flipV="false" rot="0">
            <a:off x="373684" y="5919084"/>
            <a:ext cx="13233140" cy="3843875"/>
          </a:xfrm>
          <a:custGeom>
            <a:avLst/>
            <a:gdLst/>
            <a:ahLst/>
            <a:cxnLst/>
            <a:rect r="r" b="b" t="t" l="l"/>
            <a:pathLst>
              <a:path h="3843875" w="13233140">
                <a:moveTo>
                  <a:pt x="0" y="0"/>
                </a:moveTo>
                <a:lnTo>
                  <a:pt x="13233140" y="0"/>
                </a:lnTo>
                <a:lnTo>
                  <a:pt x="13233140" y="3843875"/>
                </a:lnTo>
                <a:lnTo>
                  <a:pt x="0" y="3843875"/>
                </a:lnTo>
                <a:lnTo>
                  <a:pt x="0" y="0"/>
                </a:lnTo>
                <a:close/>
              </a:path>
            </a:pathLst>
          </a:custGeom>
          <a:blipFill>
            <a:blip r:embed="rId5"/>
            <a:stretch>
              <a:fillRect l="0" t="0" r="0" b="0"/>
            </a:stretch>
          </a:blipFill>
        </p:spPr>
      </p:sp>
      <p:sp>
        <p:nvSpPr>
          <p:cNvPr name="TextBox 5" id="5"/>
          <p:cNvSpPr txBox="true"/>
          <p:nvPr/>
        </p:nvSpPr>
        <p:spPr>
          <a:xfrm rot="0">
            <a:off x="373684" y="328808"/>
            <a:ext cx="10849663" cy="1384935"/>
          </a:xfrm>
          <a:prstGeom prst="rect">
            <a:avLst/>
          </a:prstGeom>
        </p:spPr>
        <p:txBody>
          <a:bodyPr anchor="t" rtlCol="false" tIns="0" lIns="0" bIns="0" rIns="0">
            <a:spAutoFit/>
          </a:bodyPr>
          <a:lstStyle/>
          <a:p>
            <a:pPr algn="l">
              <a:lnSpc>
                <a:spcPts val="5220"/>
              </a:lnSpc>
            </a:pPr>
            <a:r>
              <a:rPr lang="en-US" sz="6000" spc="-294" b="true">
                <a:solidFill>
                  <a:srgbClr val="000000"/>
                </a:solidFill>
                <a:latin typeface="TT Interphases Bold"/>
                <a:ea typeface="TT Interphases Bold"/>
                <a:cs typeface="TT Interphases Bold"/>
                <a:sym typeface="TT Interphases Bold"/>
              </a:rPr>
              <a:t>Daily Ridership and Average Trip Distance</a:t>
            </a:r>
          </a:p>
        </p:txBody>
      </p:sp>
      <p:sp>
        <p:nvSpPr>
          <p:cNvPr name="TextBox 6" id="6"/>
          <p:cNvSpPr txBox="true"/>
          <p:nvPr/>
        </p:nvSpPr>
        <p:spPr>
          <a:xfrm rot="0">
            <a:off x="13911474" y="592124"/>
            <a:ext cx="4376526" cy="436576"/>
          </a:xfrm>
          <a:prstGeom prst="rect">
            <a:avLst/>
          </a:prstGeom>
        </p:spPr>
        <p:txBody>
          <a:bodyPr anchor="t" rtlCol="false" tIns="0" lIns="0" bIns="0" rIns="0">
            <a:spAutoFit/>
          </a:bodyPr>
          <a:lstStyle/>
          <a:p>
            <a:pPr algn="l">
              <a:lnSpc>
                <a:spcPts val="3672"/>
              </a:lnSpc>
            </a:pPr>
            <a:r>
              <a:rPr lang="en-US" sz="2622" spc="-128" b="true">
                <a:solidFill>
                  <a:srgbClr val="000000"/>
                </a:solidFill>
                <a:latin typeface="TT Interphases Bold"/>
                <a:ea typeface="TT Interphases Bold"/>
                <a:cs typeface="TT Interphases Bold"/>
                <a:sym typeface="TT Interphases Bold"/>
              </a:rPr>
              <a:t>BAR CHART INSIGHTS</a:t>
            </a:r>
          </a:p>
        </p:txBody>
      </p:sp>
      <p:sp>
        <p:nvSpPr>
          <p:cNvPr name="TextBox 7" id="7"/>
          <p:cNvSpPr txBox="true"/>
          <p:nvPr/>
        </p:nvSpPr>
        <p:spPr>
          <a:xfrm rot="0">
            <a:off x="13911474" y="1174960"/>
            <a:ext cx="4123678" cy="7599680"/>
          </a:xfrm>
          <a:prstGeom prst="rect">
            <a:avLst/>
          </a:prstGeom>
        </p:spPr>
        <p:txBody>
          <a:bodyPr anchor="t" rtlCol="false" tIns="0" lIns="0" bIns="0" rIns="0">
            <a:spAutoFit/>
          </a:bodyPr>
          <a:lstStyle/>
          <a:p>
            <a:pPr algn="just">
              <a:lnSpc>
                <a:spcPts val="3219"/>
              </a:lnSpc>
            </a:pPr>
            <a:r>
              <a:rPr lang="en-US" sz="2299" spc="-112">
                <a:solidFill>
                  <a:srgbClr val="000000"/>
                </a:solidFill>
                <a:latin typeface="TT Interphases"/>
                <a:ea typeface="TT Interphases"/>
                <a:cs typeface="TT Interphases"/>
                <a:sym typeface="TT Interphases"/>
              </a:rPr>
              <a:t>The bar chart shows rising daily ridership for both MRT and buses, indicating growing reliance on public transport, driven by population growth and expanded networks. The line graph reveals that average trip distances have been decreasing, with MRT trips dropping from 11 km to 9.5 km and bus trips from 5.3 km to 4.3 km.</a:t>
            </a:r>
          </a:p>
          <a:p>
            <a:pPr algn="just">
              <a:lnSpc>
                <a:spcPts val="3219"/>
              </a:lnSpc>
            </a:pPr>
          </a:p>
          <a:p>
            <a:pPr algn="just">
              <a:lnSpc>
                <a:spcPts val="3219"/>
              </a:lnSpc>
            </a:pPr>
            <a:r>
              <a:rPr lang="en-US" sz="2299" spc="-112">
                <a:solidFill>
                  <a:srgbClr val="000000"/>
                </a:solidFill>
                <a:latin typeface="TT Interphases"/>
                <a:ea typeface="TT Interphases"/>
                <a:cs typeface="TT Interphases"/>
                <a:sym typeface="TT Interphases"/>
              </a:rPr>
              <a:t>This could reflect MRT expansion and improved last-mile connectivity allow for shorter, more direct trips.</a:t>
            </a:r>
          </a:p>
          <a:p>
            <a:pPr algn="just">
              <a:lnSpc>
                <a:spcPts val="3219"/>
              </a:lnSpc>
            </a:pPr>
          </a:p>
          <a:p>
            <a:pPr algn="just">
              <a:lnSpc>
                <a:spcPts val="3219"/>
              </a:lnSpc>
            </a:pPr>
            <a:r>
              <a:rPr lang="en-US" sz="2299" spc="-112">
                <a:solidFill>
                  <a:srgbClr val="000000"/>
                </a:solidFill>
                <a:latin typeface="TT Interphases"/>
                <a:ea typeface="TT Interphases"/>
                <a:cs typeface="TT Interphases"/>
                <a:sym typeface="TT Interphases"/>
              </a:rPr>
              <a:t>Alternatively, short-distance fares are higher per km but commuters still choose convenience over cost for shorter trips.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71185" y="7408843"/>
            <a:ext cx="5132513" cy="3312804"/>
          </a:xfrm>
          <a:custGeom>
            <a:avLst/>
            <a:gdLst/>
            <a:ahLst/>
            <a:cxnLst/>
            <a:rect r="r" b="b" t="t" l="l"/>
            <a:pathLst>
              <a:path h="3312804" w="5132513">
                <a:moveTo>
                  <a:pt x="0" y="0"/>
                </a:moveTo>
                <a:lnTo>
                  <a:pt x="5132513" y="0"/>
                </a:lnTo>
                <a:lnTo>
                  <a:pt x="5132513" y="3312804"/>
                </a:lnTo>
                <a:lnTo>
                  <a:pt x="0" y="3312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99760" y="638208"/>
            <a:ext cx="16888481" cy="777240"/>
          </a:xfrm>
          <a:prstGeom prst="rect">
            <a:avLst/>
          </a:prstGeom>
        </p:spPr>
        <p:txBody>
          <a:bodyPr anchor="t" rtlCol="false" tIns="0" lIns="0" bIns="0" rIns="0">
            <a:spAutoFit/>
          </a:bodyPr>
          <a:lstStyle/>
          <a:p>
            <a:pPr algn="l">
              <a:lnSpc>
                <a:spcPts val="5655"/>
              </a:lnSpc>
            </a:pPr>
            <a:r>
              <a:rPr lang="en-US" sz="6500" spc="-318" b="true">
                <a:solidFill>
                  <a:srgbClr val="000000"/>
                </a:solidFill>
                <a:latin typeface="TT Interphases Bold"/>
                <a:ea typeface="TT Interphases Bold"/>
                <a:cs typeface="TT Interphases Bold"/>
                <a:sym typeface="TT Interphases Bold"/>
              </a:rPr>
              <a:t>KEY TAKEAWAYS AND RECOMMENDATIONS</a:t>
            </a:r>
          </a:p>
        </p:txBody>
      </p:sp>
      <p:sp>
        <p:nvSpPr>
          <p:cNvPr name="TextBox 4" id="4"/>
          <p:cNvSpPr txBox="true"/>
          <p:nvPr/>
        </p:nvSpPr>
        <p:spPr>
          <a:xfrm rot="0">
            <a:off x="380115" y="2277301"/>
            <a:ext cx="9204687" cy="7272497"/>
          </a:xfrm>
          <a:prstGeom prst="rect">
            <a:avLst/>
          </a:prstGeom>
        </p:spPr>
        <p:txBody>
          <a:bodyPr anchor="t" rtlCol="false" tIns="0" lIns="0" bIns="0" rIns="0">
            <a:spAutoFit/>
          </a:bodyPr>
          <a:lstStyle/>
          <a:p>
            <a:pPr algn="l">
              <a:lnSpc>
                <a:spcPts val="3403"/>
              </a:lnSpc>
              <a:spcBef>
                <a:spcPct val="0"/>
              </a:spcBef>
            </a:pPr>
            <a:r>
              <a:rPr lang="en-US" b="true" sz="2431" spc="-119">
                <a:solidFill>
                  <a:srgbClr val="000000"/>
                </a:solidFill>
                <a:latin typeface="TT Interphases Bold"/>
                <a:ea typeface="TT Interphases Bold"/>
                <a:cs typeface="TT Interphases Bold"/>
                <a:sym typeface="TT Interphases Bold"/>
              </a:rPr>
              <a:t>Feeder Services &amp; Micro-Mobility</a:t>
            </a:r>
          </a:p>
          <a:p>
            <a:pPr algn="l" marL="524899" indent="-262450" lvl="1">
              <a:lnSpc>
                <a:spcPts val="3403"/>
              </a:lnSpc>
              <a:spcBef>
                <a:spcPct val="0"/>
              </a:spcBef>
              <a:buFont typeface="Arial"/>
              <a:buChar char="•"/>
            </a:pPr>
            <a:r>
              <a:rPr lang="en-US" sz="2431" spc="-119">
                <a:solidFill>
                  <a:srgbClr val="000000"/>
                </a:solidFill>
                <a:latin typeface="TT Interphases"/>
                <a:ea typeface="TT Interphases"/>
                <a:cs typeface="TT Interphases"/>
                <a:sym typeface="TT Interphases"/>
              </a:rPr>
              <a:t>For the 0–2 km Range: Establish or expand feeder bus services and micro-mobility options (e.g., e-scooters, bike-sharing) around transit hubs to cover areas where walking or cycling is currently preferred.</a:t>
            </a:r>
          </a:p>
          <a:p>
            <a:pPr algn="l" marL="524899" indent="-262450" lvl="1">
              <a:lnSpc>
                <a:spcPts val="3403"/>
              </a:lnSpc>
              <a:spcBef>
                <a:spcPct val="0"/>
              </a:spcBef>
              <a:buFont typeface="Arial"/>
              <a:buChar char="•"/>
            </a:pPr>
            <a:r>
              <a:rPr lang="en-US" sz="2431" spc="-119">
                <a:solidFill>
                  <a:srgbClr val="000000"/>
                </a:solidFill>
                <a:latin typeface="TT Interphases"/>
                <a:ea typeface="TT Interphases"/>
                <a:cs typeface="TT Interphases"/>
                <a:sym typeface="TT Interphases"/>
              </a:rPr>
              <a:t>Dedicated Transfer Hubs: Create or upgrade transfer stations with clear signage and minimal walking distances between connecting transport modes. </a:t>
            </a:r>
          </a:p>
          <a:p>
            <a:pPr algn="l">
              <a:lnSpc>
                <a:spcPts val="3403"/>
              </a:lnSpc>
              <a:spcBef>
                <a:spcPct val="0"/>
              </a:spcBef>
            </a:pPr>
          </a:p>
          <a:p>
            <a:pPr algn="l">
              <a:lnSpc>
                <a:spcPts val="3403"/>
              </a:lnSpc>
              <a:spcBef>
                <a:spcPct val="0"/>
              </a:spcBef>
            </a:pPr>
            <a:r>
              <a:rPr lang="en-US" b="true" sz="2431" spc="-119">
                <a:solidFill>
                  <a:srgbClr val="000000"/>
                </a:solidFill>
                <a:latin typeface="TT Interphases Bold"/>
                <a:ea typeface="TT Interphases Bold"/>
                <a:cs typeface="TT Interphases Bold"/>
                <a:sym typeface="TT Interphases Bold"/>
              </a:rPr>
              <a:t>Dynamic Short-Trip Pricing:</a:t>
            </a:r>
          </a:p>
          <a:p>
            <a:pPr algn="l" marL="524899" indent="-262450" lvl="1">
              <a:lnSpc>
                <a:spcPts val="3403"/>
              </a:lnSpc>
              <a:spcBef>
                <a:spcPct val="0"/>
              </a:spcBef>
              <a:buFont typeface="Arial"/>
              <a:buChar char="•"/>
            </a:pPr>
            <a:r>
              <a:rPr lang="en-US" sz="2431" spc="-119">
                <a:solidFill>
                  <a:srgbClr val="000000"/>
                </a:solidFill>
                <a:latin typeface="TT Interphases"/>
                <a:ea typeface="TT Interphases"/>
                <a:cs typeface="TT Interphases"/>
                <a:sym typeface="TT Interphases"/>
              </a:rPr>
              <a:t>Implement a dynamic pricing model that reduces the minimum fare or adjusts the per-kilometer charge for trips under 3–5 km. This may involve tiered fare bands that automatically lower costs for short-distance journeys, encouraging more users to choose public transport over private vehicles.</a:t>
            </a:r>
          </a:p>
          <a:p>
            <a:pPr algn="l">
              <a:lnSpc>
                <a:spcPts val="3403"/>
              </a:lnSpc>
              <a:spcBef>
                <a:spcPct val="0"/>
              </a:spcBef>
            </a:pPr>
          </a:p>
          <a:p>
            <a:pPr algn="l">
              <a:lnSpc>
                <a:spcPts val="3403"/>
              </a:lnSpc>
              <a:spcBef>
                <a:spcPct val="0"/>
              </a:spcBef>
            </a:pPr>
          </a:p>
          <a:p>
            <a:pPr algn="l">
              <a:lnSpc>
                <a:spcPts val="3403"/>
              </a:lnSpc>
              <a:spcBef>
                <a:spcPct val="0"/>
              </a:spcBef>
            </a:pPr>
          </a:p>
        </p:txBody>
      </p:sp>
      <p:sp>
        <p:nvSpPr>
          <p:cNvPr name="TextBox 5" id="5"/>
          <p:cNvSpPr txBox="true"/>
          <p:nvPr/>
        </p:nvSpPr>
        <p:spPr>
          <a:xfrm rot="0">
            <a:off x="380115" y="1582557"/>
            <a:ext cx="6443717" cy="513768"/>
          </a:xfrm>
          <a:prstGeom prst="rect">
            <a:avLst/>
          </a:prstGeom>
        </p:spPr>
        <p:txBody>
          <a:bodyPr anchor="t" rtlCol="false" tIns="0" lIns="0" bIns="0" rIns="0">
            <a:spAutoFit/>
          </a:bodyPr>
          <a:lstStyle/>
          <a:p>
            <a:pPr algn="l">
              <a:lnSpc>
                <a:spcPts val="4232"/>
              </a:lnSpc>
            </a:pPr>
            <a:r>
              <a:rPr lang="en-US" sz="3022" spc="-148" b="true">
                <a:solidFill>
                  <a:srgbClr val="3779E3"/>
                </a:solidFill>
                <a:latin typeface="TT Interphases Bold"/>
                <a:ea typeface="TT Interphases Bold"/>
                <a:cs typeface="TT Interphases Bold"/>
                <a:sym typeface="TT Interphases Bold"/>
              </a:rPr>
              <a:t>SHORT TERM IMPLEMENTATION</a:t>
            </a:r>
          </a:p>
        </p:txBody>
      </p:sp>
      <p:sp>
        <p:nvSpPr>
          <p:cNvPr name="TextBox 6" id="6"/>
          <p:cNvSpPr txBox="true"/>
          <p:nvPr/>
        </p:nvSpPr>
        <p:spPr>
          <a:xfrm rot="0">
            <a:off x="10035723" y="1584728"/>
            <a:ext cx="6443717" cy="513768"/>
          </a:xfrm>
          <a:prstGeom prst="rect">
            <a:avLst/>
          </a:prstGeom>
        </p:spPr>
        <p:txBody>
          <a:bodyPr anchor="t" rtlCol="false" tIns="0" lIns="0" bIns="0" rIns="0">
            <a:spAutoFit/>
          </a:bodyPr>
          <a:lstStyle/>
          <a:p>
            <a:pPr algn="l">
              <a:lnSpc>
                <a:spcPts val="4232"/>
              </a:lnSpc>
            </a:pPr>
            <a:r>
              <a:rPr lang="en-US" sz="3022" spc="-148" b="true">
                <a:solidFill>
                  <a:srgbClr val="3779E3"/>
                </a:solidFill>
                <a:latin typeface="TT Interphases Bold"/>
                <a:ea typeface="TT Interphases Bold"/>
                <a:cs typeface="TT Interphases Bold"/>
                <a:sym typeface="TT Interphases Bold"/>
              </a:rPr>
              <a:t>LONG TERM IMPLEMENTATION</a:t>
            </a:r>
          </a:p>
        </p:txBody>
      </p:sp>
      <p:sp>
        <p:nvSpPr>
          <p:cNvPr name="TextBox 7" id="7"/>
          <p:cNvSpPr txBox="true"/>
          <p:nvPr/>
        </p:nvSpPr>
        <p:spPr>
          <a:xfrm rot="0">
            <a:off x="10035723" y="2279471"/>
            <a:ext cx="8003438" cy="5129372"/>
          </a:xfrm>
          <a:prstGeom prst="rect">
            <a:avLst/>
          </a:prstGeom>
        </p:spPr>
        <p:txBody>
          <a:bodyPr anchor="t" rtlCol="false" tIns="0" lIns="0" bIns="0" rIns="0">
            <a:spAutoFit/>
          </a:bodyPr>
          <a:lstStyle/>
          <a:p>
            <a:pPr algn="l">
              <a:lnSpc>
                <a:spcPts val="3403"/>
              </a:lnSpc>
            </a:pPr>
            <a:r>
              <a:rPr lang="en-US" sz="2431" spc="-119" b="true">
                <a:solidFill>
                  <a:srgbClr val="000000"/>
                </a:solidFill>
                <a:latin typeface="TT Interphases Bold"/>
                <a:ea typeface="TT Interphases Bold"/>
                <a:cs typeface="TT Interphases Bold"/>
                <a:sym typeface="TT Interphases Bold"/>
              </a:rPr>
              <a:t>First/Last-Mile Service Scheduling</a:t>
            </a:r>
          </a:p>
          <a:p>
            <a:pPr algn="l" marL="524899" indent="-262450" lvl="1">
              <a:lnSpc>
                <a:spcPts val="3403"/>
              </a:lnSpc>
              <a:buFont typeface="Arial"/>
              <a:buChar char="•"/>
            </a:pPr>
            <a:r>
              <a:rPr lang="en-US" sz="2431" spc="-119">
                <a:solidFill>
                  <a:srgbClr val="000000"/>
                </a:solidFill>
                <a:latin typeface="TT Interphases"/>
                <a:ea typeface="TT Interphases"/>
                <a:cs typeface="TT Interphases"/>
                <a:sym typeface="TT Interphases"/>
              </a:rPr>
              <a:t>Syncing with Transit Timetables: Coordinate micro-mobility and ride-hailing service schedules with public transit timetables to minimise waiting times. For example, schedule additional e-scooter availability during peak hours around major stations.</a:t>
            </a:r>
          </a:p>
          <a:p>
            <a:pPr algn="l" marL="524899" indent="-262450" lvl="1">
              <a:lnSpc>
                <a:spcPts val="3403"/>
              </a:lnSpc>
              <a:buFont typeface="Arial"/>
              <a:buChar char="•"/>
            </a:pPr>
            <a:r>
              <a:rPr lang="en-US" sz="2431" spc="-119">
                <a:solidFill>
                  <a:srgbClr val="000000"/>
                </a:solidFill>
                <a:latin typeface="TT Interphases"/>
                <a:ea typeface="TT Interphases"/>
                <a:cs typeface="TT Interphases"/>
                <a:sym typeface="TT Interphases"/>
              </a:rPr>
              <a:t>On-Demand Shuttles: Introduce on-demand shuttle services in areas with lower density micro-mobility coverage. These shuttles can serve as a flexible link between residential clusters and transit hubs.</a:t>
            </a:r>
          </a:p>
          <a:p>
            <a:pPr algn="l">
              <a:lnSpc>
                <a:spcPts val="3403"/>
              </a:lnSpc>
              <a:spcBef>
                <a:spcPct val="0"/>
              </a:spcBef>
            </a:pPr>
          </a:p>
          <a:p>
            <a:pPr algn="l">
              <a:lnSpc>
                <a:spcPts val="3403"/>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752966" y="1215143"/>
            <a:ext cx="2307950" cy="1816986"/>
          </a:xfrm>
          <a:custGeom>
            <a:avLst/>
            <a:gdLst/>
            <a:ahLst/>
            <a:cxnLst/>
            <a:rect r="r" b="b" t="t" l="l"/>
            <a:pathLst>
              <a:path h="1816986" w="2307950">
                <a:moveTo>
                  <a:pt x="0" y="0"/>
                </a:moveTo>
                <a:lnTo>
                  <a:pt x="2307950" y="0"/>
                </a:lnTo>
                <a:lnTo>
                  <a:pt x="2307950" y="1816986"/>
                </a:lnTo>
                <a:lnTo>
                  <a:pt x="0" y="18169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402984" y="447099"/>
            <a:ext cx="6059885" cy="768043"/>
          </a:xfrm>
          <a:prstGeom prst="rect">
            <a:avLst/>
          </a:prstGeom>
        </p:spPr>
        <p:txBody>
          <a:bodyPr anchor="t" rtlCol="false" tIns="0" lIns="0" bIns="0" rIns="0">
            <a:spAutoFit/>
          </a:bodyPr>
          <a:lstStyle/>
          <a:p>
            <a:pPr algn="l">
              <a:lnSpc>
                <a:spcPts val="5475"/>
              </a:lnSpc>
            </a:pPr>
            <a:r>
              <a:rPr lang="en-US" sz="6293" spc="-308" b="true">
                <a:solidFill>
                  <a:srgbClr val="000000"/>
                </a:solidFill>
                <a:latin typeface="TT Interphases Bold"/>
                <a:ea typeface="TT Interphases Bold"/>
                <a:cs typeface="TT Interphases Bold"/>
                <a:sym typeface="TT Interphases Bold"/>
              </a:rPr>
              <a:t>DASHBOARDS</a:t>
            </a:r>
          </a:p>
        </p:txBody>
      </p:sp>
      <p:sp>
        <p:nvSpPr>
          <p:cNvPr name="Freeform 4" id="4"/>
          <p:cNvSpPr/>
          <p:nvPr/>
        </p:nvSpPr>
        <p:spPr>
          <a:xfrm flipH="false" flipV="false" rot="0">
            <a:off x="365345" y="256599"/>
            <a:ext cx="10395404" cy="4818845"/>
          </a:xfrm>
          <a:custGeom>
            <a:avLst/>
            <a:gdLst/>
            <a:ahLst/>
            <a:cxnLst/>
            <a:rect r="r" b="b" t="t" l="l"/>
            <a:pathLst>
              <a:path h="4818845" w="10395404">
                <a:moveTo>
                  <a:pt x="0" y="0"/>
                </a:moveTo>
                <a:lnTo>
                  <a:pt x="10395404" y="0"/>
                </a:lnTo>
                <a:lnTo>
                  <a:pt x="10395404" y="4818845"/>
                </a:lnTo>
                <a:lnTo>
                  <a:pt x="0" y="4818845"/>
                </a:lnTo>
                <a:lnTo>
                  <a:pt x="0" y="0"/>
                </a:lnTo>
                <a:close/>
              </a:path>
            </a:pathLst>
          </a:custGeom>
          <a:blipFill>
            <a:blip r:embed="rId4"/>
            <a:stretch>
              <a:fillRect l="0" t="0" r="0" b="0"/>
            </a:stretch>
          </a:blipFill>
        </p:spPr>
      </p:sp>
      <p:sp>
        <p:nvSpPr>
          <p:cNvPr name="Freeform 5" id="5"/>
          <p:cNvSpPr/>
          <p:nvPr/>
        </p:nvSpPr>
        <p:spPr>
          <a:xfrm flipH="false" flipV="false" rot="0">
            <a:off x="5563047" y="4767851"/>
            <a:ext cx="10964481" cy="5194423"/>
          </a:xfrm>
          <a:custGeom>
            <a:avLst/>
            <a:gdLst/>
            <a:ahLst/>
            <a:cxnLst/>
            <a:rect r="r" b="b" t="t" l="l"/>
            <a:pathLst>
              <a:path h="5194423" w="10964481">
                <a:moveTo>
                  <a:pt x="0" y="0"/>
                </a:moveTo>
                <a:lnTo>
                  <a:pt x="10964481" y="0"/>
                </a:lnTo>
                <a:lnTo>
                  <a:pt x="10964481" y="5194423"/>
                </a:lnTo>
                <a:lnTo>
                  <a:pt x="0" y="5194423"/>
                </a:lnTo>
                <a:lnTo>
                  <a:pt x="0" y="0"/>
                </a:lnTo>
                <a:close/>
              </a:path>
            </a:pathLst>
          </a:custGeom>
          <a:blipFill>
            <a:blip r:embed="rId5"/>
            <a:stretch>
              <a:fillRect l="0" t="-13" r="0" b="-13"/>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155912" y="108850"/>
            <a:ext cx="5329750" cy="4031229"/>
          </a:xfrm>
          <a:custGeom>
            <a:avLst/>
            <a:gdLst/>
            <a:ahLst/>
            <a:cxnLst/>
            <a:rect r="r" b="b" t="t" l="l"/>
            <a:pathLst>
              <a:path h="4031229" w="5329750">
                <a:moveTo>
                  <a:pt x="0" y="0"/>
                </a:moveTo>
                <a:lnTo>
                  <a:pt x="5329749" y="0"/>
                </a:lnTo>
                <a:lnTo>
                  <a:pt x="5329749" y="4031229"/>
                </a:lnTo>
                <a:lnTo>
                  <a:pt x="0" y="40312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768485"/>
            <a:ext cx="6978478" cy="2997710"/>
          </a:xfrm>
          <a:prstGeom prst="rect">
            <a:avLst/>
          </a:prstGeom>
        </p:spPr>
        <p:txBody>
          <a:bodyPr anchor="t" rtlCol="false" tIns="0" lIns="0" bIns="0" rIns="0">
            <a:spAutoFit/>
          </a:bodyPr>
          <a:lstStyle/>
          <a:p>
            <a:pPr algn="l">
              <a:lnSpc>
                <a:spcPts val="7656"/>
              </a:lnSpc>
            </a:pPr>
            <a:r>
              <a:rPr lang="en-US" sz="8800" spc="-431" b="true">
                <a:solidFill>
                  <a:srgbClr val="000000"/>
                </a:solidFill>
                <a:latin typeface="TT Interphases Bold"/>
                <a:ea typeface="TT Interphases Bold"/>
                <a:cs typeface="TT Interphases Bold"/>
                <a:sym typeface="TT Interphases Bold"/>
              </a:rPr>
              <a:t>DATASETS USED</a:t>
            </a:r>
          </a:p>
          <a:p>
            <a:pPr algn="l">
              <a:lnSpc>
                <a:spcPts val="7656"/>
              </a:lnSpc>
            </a:pPr>
          </a:p>
        </p:txBody>
      </p:sp>
      <p:sp>
        <p:nvSpPr>
          <p:cNvPr name="TextBox 4" id="4"/>
          <p:cNvSpPr txBox="true"/>
          <p:nvPr/>
        </p:nvSpPr>
        <p:spPr>
          <a:xfrm rot="0">
            <a:off x="915519" y="4746461"/>
            <a:ext cx="16456961" cy="3768090"/>
          </a:xfrm>
          <a:prstGeom prst="rect">
            <a:avLst/>
          </a:prstGeom>
        </p:spPr>
        <p:txBody>
          <a:bodyPr anchor="t" rtlCol="false" tIns="0" lIns="0" bIns="0" rIns="0">
            <a:spAutoFit/>
          </a:bodyPr>
          <a:lstStyle/>
          <a:p>
            <a:pPr algn="l">
              <a:lnSpc>
                <a:spcPts val="3359"/>
              </a:lnSpc>
            </a:pPr>
            <a:r>
              <a:rPr lang="en-US" sz="2399" spc="-117" b="true">
                <a:solidFill>
                  <a:srgbClr val="000000"/>
                </a:solidFill>
                <a:latin typeface="TT Interphases Bold"/>
                <a:ea typeface="TT Interphases Bold"/>
                <a:cs typeface="TT Interphases Bold"/>
                <a:sym typeface="TT Interphases Bold"/>
              </a:rPr>
              <a:t>daily_ridership</a:t>
            </a:r>
          </a:p>
          <a:p>
            <a:pPr algn="l">
              <a:lnSpc>
                <a:spcPts val="3359"/>
              </a:lnSpc>
            </a:pPr>
            <a:r>
              <a:rPr lang="en-US" sz="2399" spc="-117">
                <a:solidFill>
                  <a:srgbClr val="000000"/>
                </a:solidFill>
                <a:latin typeface="TT Interphases"/>
                <a:ea typeface="TT Interphases"/>
                <a:cs typeface="TT Interphases"/>
                <a:sym typeface="TT Interphases"/>
              </a:rPr>
              <a:t>Provided Dataset</a:t>
            </a:r>
          </a:p>
          <a:p>
            <a:pPr algn="l">
              <a:lnSpc>
                <a:spcPts val="3359"/>
              </a:lnSpc>
            </a:pPr>
          </a:p>
          <a:p>
            <a:pPr algn="l">
              <a:lnSpc>
                <a:spcPts val="3359"/>
              </a:lnSpc>
            </a:pPr>
            <a:r>
              <a:rPr lang="en-US" sz="2399" spc="-117" b="true">
                <a:solidFill>
                  <a:srgbClr val="000000"/>
                </a:solidFill>
                <a:latin typeface="TT Interphases Bold"/>
                <a:ea typeface="TT Interphases Bold"/>
                <a:cs typeface="TT Interphases Bold"/>
                <a:sym typeface="TT Interphases Bold"/>
              </a:rPr>
              <a:t>mrt_fares</a:t>
            </a:r>
          </a:p>
          <a:p>
            <a:pPr algn="l">
              <a:lnSpc>
                <a:spcPts val="3359"/>
              </a:lnSpc>
            </a:pPr>
            <a:r>
              <a:rPr lang="en-US" sz="2399" spc="-117" u="sng">
                <a:solidFill>
                  <a:srgbClr val="000000"/>
                </a:solidFill>
                <a:latin typeface="TT Interphases"/>
                <a:ea typeface="TT Interphases"/>
                <a:cs typeface="TT Interphases"/>
                <a:sym typeface="TT Interphases"/>
                <a:hlinkClick r:id="rId4" tooltip="https://data.gov.sg/datasets?query=fare&amp;page=1&amp;resultId=d_2ca29f673b89e0cfddbb7c74516fa4d3"/>
              </a:rPr>
              <a:t>https://data.gov.sg/datasets?query=fare&amp;page=1&amp;resultId=d_2ca29f673b89e0cfddbb7c74516fa4d3</a:t>
            </a:r>
          </a:p>
          <a:p>
            <a:pPr algn="l">
              <a:lnSpc>
                <a:spcPts val="3359"/>
              </a:lnSpc>
            </a:pPr>
          </a:p>
          <a:p>
            <a:pPr algn="l">
              <a:lnSpc>
                <a:spcPts val="3359"/>
              </a:lnSpc>
            </a:pPr>
          </a:p>
          <a:p>
            <a:pPr algn="l">
              <a:lnSpc>
                <a:spcPts val="3359"/>
              </a:lnSpc>
            </a:pPr>
            <a:r>
              <a:rPr lang="en-US" sz="2399" spc="-117" b="true">
                <a:solidFill>
                  <a:srgbClr val="000000"/>
                </a:solidFill>
                <a:latin typeface="TT Interphases Bold"/>
                <a:ea typeface="TT Interphases Bold"/>
                <a:cs typeface="TT Interphases Bold"/>
                <a:sym typeface="TT Interphases Bold"/>
              </a:rPr>
              <a:t>trip_distance</a:t>
            </a:r>
          </a:p>
          <a:p>
            <a:pPr algn="l">
              <a:lnSpc>
                <a:spcPts val="3359"/>
              </a:lnSpc>
            </a:pPr>
            <a:r>
              <a:rPr lang="en-US" sz="2399" spc="-117" u="sng">
                <a:solidFill>
                  <a:srgbClr val="000000"/>
                </a:solidFill>
                <a:latin typeface="TT Interphases"/>
                <a:ea typeface="TT Interphases"/>
                <a:cs typeface="TT Interphases"/>
                <a:sym typeface="TT Interphases"/>
                <a:hlinkClick r:id="rId5" tooltip="https://data.gov.sg/datasets?query=Utilisation+Average+Trip+Distance&amp;page=1&amp;resultId=d_1e8c9a3f599bca92c76bdb7d8a52a79a"/>
              </a:rPr>
              <a:t>https://data.gov.sg/datasets?query=Utilisation+Average+Trip+Distance&amp;page=1&amp;resultId=d_1e8c9a3f599bca92c76bdb7d8a52a79a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99665" y="1028700"/>
            <a:ext cx="8259635" cy="8229600"/>
          </a:xfrm>
          <a:custGeom>
            <a:avLst/>
            <a:gdLst/>
            <a:ahLst/>
            <a:cxnLst/>
            <a:rect r="r" b="b" t="t" l="l"/>
            <a:pathLst>
              <a:path h="8229600" w="8259635">
                <a:moveTo>
                  <a:pt x="0" y="0"/>
                </a:moveTo>
                <a:lnTo>
                  <a:pt x="8259635" y="0"/>
                </a:lnTo>
                <a:lnTo>
                  <a:pt x="8259635" y="8229600"/>
                </a:lnTo>
                <a:lnTo>
                  <a:pt x="0" y="8229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7718033"/>
            <a:ext cx="228600" cy="2286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49864"/>
            </a:solidFill>
          </p:spPr>
        </p:sp>
        <p:sp>
          <p:nvSpPr>
            <p:cNvPr name="TextBox 6" id="6"/>
            <p:cNvSpPr txBox="true"/>
            <p:nvPr/>
          </p:nvSpPr>
          <p:spPr>
            <a:xfrm>
              <a:off x="76200" y="133350"/>
              <a:ext cx="660400" cy="603250"/>
            </a:xfrm>
            <a:prstGeom prst="rect">
              <a:avLst/>
            </a:prstGeom>
          </p:spPr>
          <p:txBody>
            <a:bodyPr anchor="ctr" rtlCol="false" tIns="50800" lIns="50800" bIns="50800" rIns="50800"/>
            <a:lstStyle/>
            <a:p>
              <a:pPr algn="ctr">
                <a:lnSpc>
                  <a:spcPts val="1827"/>
                </a:lnSpc>
              </a:pPr>
            </a:p>
          </p:txBody>
        </p:sp>
      </p:grpSp>
      <p:sp>
        <p:nvSpPr>
          <p:cNvPr name="TextBox 7" id="7"/>
          <p:cNvSpPr txBox="true"/>
          <p:nvPr/>
        </p:nvSpPr>
        <p:spPr>
          <a:xfrm rot="0">
            <a:off x="1028700" y="4000357"/>
            <a:ext cx="8332616" cy="1745348"/>
          </a:xfrm>
          <a:prstGeom prst="rect">
            <a:avLst/>
          </a:prstGeom>
        </p:spPr>
        <p:txBody>
          <a:bodyPr anchor="t" rtlCol="false" tIns="0" lIns="0" bIns="0" rIns="0">
            <a:spAutoFit/>
          </a:bodyPr>
          <a:lstStyle/>
          <a:p>
            <a:pPr algn="l">
              <a:lnSpc>
                <a:spcPts val="12524"/>
              </a:lnSpc>
            </a:pPr>
            <a:r>
              <a:rPr lang="en-US" sz="14395" spc="-705">
                <a:solidFill>
                  <a:srgbClr val="000000"/>
                </a:solidFill>
                <a:latin typeface="TT Interphases"/>
                <a:ea typeface="TT Interphases"/>
                <a:cs typeface="TT Interphases"/>
                <a:sym typeface="TT Interphases"/>
              </a:rPr>
              <a:t>Thank You</a:t>
            </a:r>
          </a:p>
        </p:txBody>
      </p:sp>
      <p:sp>
        <p:nvSpPr>
          <p:cNvPr name="TextBox 8" id="8"/>
          <p:cNvSpPr txBox="true"/>
          <p:nvPr/>
        </p:nvSpPr>
        <p:spPr>
          <a:xfrm rot="0">
            <a:off x="1566219" y="1108262"/>
            <a:ext cx="2033411" cy="259461"/>
          </a:xfrm>
          <a:prstGeom prst="rect">
            <a:avLst/>
          </a:prstGeom>
        </p:spPr>
        <p:txBody>
          <a:bodyPr anchor="t" rtlCol="false" tIns="0" lIns="0" bIns="0" rIns="0">
            <a:spAutoFit/>
          </a:bodyPr>
          <a:lstStyle/>
          <a:p>
            <a:pPr algn="l">
              <a:lnSpc>
                <a:spcPts val="1827"/>
              </a:lnSpc>
            </a:pPr>
            <a:r>
              <a:rPr lang="en-US" sz="2100" spc="-102">
                <a:solidFill>
                  <a:srgbClr val="000000"/>
                </a:solidFill>
                <a:latin typeface="TT Interphases"/>
                <a:ea typeface="TT Interphases"/>
                <a:cs typeface="TT Interphases"/>
                <a:sym typeface="TT Interphases"/>
              </a:rPr>
              <a:t>Borcelle</a:t>
            </a:r>
          </a:p>
        </p:txBody>
      </p:sp>
      <p:grpSp>
        <p:nvGrpSpPr>
          <p:cNvPr name="Group 9" id="9"/>
          <p:cNvGrpSpPr/>
          <p:nvPr/>
        </p:nvGrpSpPr>
        <p:grpSpPr>
          <a:xfrm rot="0">
            <a:off x="1028700" y="8373867"/>
            <a:ext cx="228600" cy="2286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79E3"/>
            </a:solidFill>
          </p:spPr>
        </p:sp>
        <p:sp>
          <p:nvSpPr>
            <p:cNvPr name="TextBox 11" id="11"/>
            <p:cNvSpPr txBox="true"/>
            <p:nvPr/>
          </p:nvSpPr>
          <p:spPr>
            <a:xfrm>
              <a:off x="76200" y="133350"/>
              <a:ext cx="660400" cy="603250"/>
            </a:xfrm>
            <a:prstGeom prst="rect">
              <a:avLst/>
            </a:prstGeom>
          </p:spPr>
          <p:txBody>
            <a:bodyPr anchor="ctr" rtlCol="false" tIns="50800" lIns="50800" bIns="50800" rIns="50800"/>
            <a:lstStyle/>
            <a:p>
              <a:pPr algn="ctr">
                <a:lnSpc>
                  <a:spcPts val="1827"/>
                </a:lnSpc>
              </a:pPr>
            </a:p>
          </p:txBody>
        </p:sp>
      </p:grpSp>
      <p:grpSp>
        <p:nvGrpSpPr>
          <p:cNvPr name="Group 12" id="12"/>
          <p:cNvGrpSpPr/>
          <p:nvPr/>
        </p:nvGrpSpPr>
        <p:grpSpPr>
          <a:xfrm rot="0">
            <a:off x="1028700" y="9029700"/>
            <a:ext cx="228600" cy="2286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9842"/>
            </a:solidFill>
          </p:spPr>
        </p:sp>
        <p:sp>
          <p:nvSpPr>
            <p:cNvPr name="TextBox 14" id="14"/>
            <p:cNvSpPr txBox="true"/>
            <p:nvPr/>
          </p:nvSpPr>
          <p:spPr>
            <a:xfrm>
              <a:off x="76200" y="133350"/>
              <a:ext cx="660400" cy="603250"/>
            </a:xfrm>
            <a:prstGeom prst="rect">
              <a:avLst/>
            </a:prstGeom>
          </p:spPr>
          <p:txBody>
            <a:bodyPr anchor="ctr" rtlCol="false" tIns="50800" lIns="50800" bIns="50800" rIns="50800"/>
            <a:lstStyle/>
            <a:p>
              <a:pPr algn="ctr">
                <a:lnSpc>
                  <a:spcPts val="1827"/>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DAGeMvqoIyg</dc:identifier>
  <dcterms:modified xsi:type="dcterms:W3CDTF">2011-08-01T06:04:30Z</dcterms:modified>
  <cp:revision>1</cp:revision>
  <dc:title>DAVI CA2 PART 2 SLIDES</dc:title>
</cp:coreProperties>
</file>